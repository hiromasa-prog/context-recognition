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304" r:id="rId3"/>
    <p:sldId id="293" r:id="rId4"/>
    <p:sldId id="296" r:id="rId5"/>
    <p:sldId id="298" r:id="rId6"/>
    <p:sldId id="277" r:id="rId7"/>
    <p:sldId id="278" r:id="rId8"/>
    <p:sldId id="302" r:id="rId9"/>
    <p:sldId id="303" r:id="rId10"/>
    <p:sldId id="285" r:id="rId11"/>
    <p:sldId id="287" r:id="rId12"/>
    <p:sldId id="301" r:id="rId13"/>
    <p:sldId id="291" r:id="rId14"/>
    <p:sldId id="297" r:id="rId15"/>
    <p:sldId id="288" r:id="rId16"/>
    <p:sldId id="295" r:id="rId17"/>
    <p:sldId id="299" r:id="rId18"/>
    <p:sldId id="305" r:id="rId19"/>
    <p:sldId id="306" r:id="rId20"/>
    <p:sldId id="307" r:id="rId21"/>
    <p:sldId id="308" r:id="rId22"/>
    <p:sldId id="29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7D932-0030-4EB9-B09E-F20EF5996976}" v="12" dt="2026-02-01T13:34:17.181"/>
  </p1510:revLst>
</p1510:revInfo>
</file>

<file path=ppt/tableStyles.xml><?xml version="1.0" encoding="utf-8"?>
<a:tblStyleLst xmlns:a="http://schemas.openxmlformats.org/drawingml/2006/main" def="{5C22544A-7EE6-4342-B048-85BDC9FD1C3A}">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504" autoAdjust="0"/>
  </p:normalViewPr>
  <p:slideViewPr>
    <p:cSldViewPr snapToGrid="0">
      <p:cViewPr varScale="1">
        <p:scale>
          <a:sx n="47" d="100"/>
          <a:sy n="47" d="100"/>
        </p:scale>
        <p:origin x="1416" y="40"/>
      </p:cViewPr>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佐藤 博正(is0671vx)" userId="26078f0f-b2fb-493a-8cf6-f434da0d0a48" providerId="ADAL" clId="{0DB24CF9-667B-41B4-9F59-049CC7C42A06}"/>
    <pc:docChg chg="modSld">
      <pc:chgData name="佐藤 博正(is0671vx)" userId="26078f0f-b2fb-493a-8cf6-f434da0d0a48" providerId="ADAL" clId="{0DB24CF9-667B-41B4-9F59-049CC7C42A06}" dt="2026-02-02T05:11:10.431" v="71" actId="14100"/>
      <pc:docMkLst>
        <pc:docMk/>
      </pc:docMkLst>
      <pc:sldChg chg="modSp mod">
        <pc:chgData name="佐藤 博正(is0671vx)" userId="26078f0f-b2fb-493a-8cf6-f434da0d0a48" providerId="ADAL" clId="{0DB24CF9-667B-41B4-9F59-049CC7C42A06}" dt="2026-02-02T02:48:21.166" v="5" actId="404"/>
        <pc:sldMkLst>
          <pc:docMk/>
          <pc:sldMk cId="1211945212" sldId="277"/>
        </pc:sldMkLst>
        <pc:spChg chg="mod">
          <ac:chgData name="佐藤 博正(is0671vx)" userId="26078f0f-b2fb-493a-8cf6-f434da0d0a48" providerId="ADAL" clId="{0DB24CF9-667B-41B4-9F59-049CC7C42A06}" dt="2026-02-02T02:48:21.166" v="5" actId="404"/>
          <ac:spMkLst>
            <pc:docMk/>
            <pc:sldMk cId="1211945212" sldId="277"/>
            <ac:spMk id="2" creationId="{B84EF7BF-4F9E-E688-F6A6-6DDD431361B4}"/>
          </ac:spMkLst>
        </pc:spChg>
      </pc:sldChg>
      <pc:sldChg chg="modSp mod">
        <pc:chgData name="佐藤 博正(is0671vx)" userId="26078f0f-b2fb-493a-8cf6-f434da0d0a48" providerId="ADAL" clId="{0DB24CF9-667B-41B4-9F59-049CC7C42A06}" dt="2026-02-02T02:48:05.166" v="1" actId="404"/>
        <pc:sldMkLst>
          <pc:docMk/>
          <pc:sldMk cId="888849406" sldId="293"/>
        </pc:sldMkLst>
        <pc:spChg chg="mod">
          <ac:chgData name="佐藤 博正(is0671vx)" userId="26078f0f-b2fb-493a-8cf6-f434da0d0a48" providerId="ADAL" clId="{0DB24CF9-667B-41B4-9F59-049CC7C42A06}" dt="2026-02-02T02:48:05.166" v="1" actId="404"/>
          <ac:spMkLst>
            <pc:docMk/>
            <pc:sldMk cId="888849406" sldId="293"/>
            <ac:spMk id="2" creationId="{4B3B5510-54A8-09D2-394E-FAE79D8EC45F}"/>
          </ac:spMkLst>
        </pc:spChg>
      </pc:sldChg>
      <pc:sldChg chg="modSp mod">
        <pc:chgData name="佐藤 博正(is0671vx)" userId="26078f0f-b2fb-493a-8cf6-f434da0d0a48" providerId="ADAL" clId="{0DB24CF9-667B-41B4-9F59-049CC7C42A06}" dt="2026-02-02T05:11:10.431" v="71" actId="14100"/>
        <pc:sldMkLst>
          <pc:docMk/>
          <pc:sldMk cId="340543245" sldId="295"/>
        </pc:sldMkLst>
        <pc:picChg chg="mod">
          <ac:chgData name="佐藤 博正(is0671vx)" userId="26078f0f-b2fb-493a-8cf6-f434da0d0a48" providerId="ADAL" clId="{0DB24CF9-667B-41B4-9F59-049CC7C42A06}" dt="2026-02-02T05:11:10.431" v="71" actId="14100"/>
          <ac:picMkLst>
            <pc:docMk/>
            <pc:sldMk cId="340543245" sldId="295"/>
            <ac:picMk id="6" creationId="{2B7BCAAE-AF4B-3159-DDBD-83113BEE3EB1}"/>
          </ac:picMkLst>
        </pc:picChg>
      </pc:sldChg>
      <pc:sldChg chg="modSp mod modNotesTx">
        <pc:chgData name="佐藤 博正(is0671vx)" userId="26078f0f-b2fb-493a-8cf6-f434da0d0a48" providerId="ADAL" clId="{0DB24CF9-667B-41B4-9F59-049CC7C42A06}" dt="2026-02-02T04:27:34.359" v="70" actId="20577"/>
        <pc:sldMkLst>
          <pc:docMk/>
          <pc:sldMk cId="1883039914" sldId="296"/>
        </pc:sldMkLst>
        <pc:spChg chg="mod">
          <ac:chgData name="佐藤 博正(is0671vx)" userId="26078f0f-b2fb-493a-8cf6-f434da0d0a48" providerId="ADAL" clId="{0DB24CF9-667B-41B4-9F59-049CC7C42A06}" dt="2026-02-02T02:48:09.212" v="2" actId="404"/>
          <ac:spMkLst>
            <pc:docMk/>
            <pc:sldMk cId="1883039914" sldId="296"/>
            <ac:spMk id="2" creationId="{6C986537-53D3-3EE8-A22E-9D5F2D3B08DF}"/>
          </ac:spMkLst>
        </pc:spChg>
      </pc:sldChg>
      <pc:sldChg chg="modSp mod">
        <pc:chgData name="佐藤 博正(is0671vx)" userId="26078f0f-b2fb-493a-8cf6-f434da0d0a48" providerId="ADAL" clId="{0DB24CF9-667B-41B4-9F59-049CC7C42A06}" dt="2026-02-02T02:48:15.246" v="4" actId="1038"/>
        <pc:sldMkLst>
          <pc:docMk/>
          <pc:sldMk cId="929914264" sldId="298"/>
        </pc:sldMkLst>
        <pc:spChg chg="mod">
          <ac:chgData name="佐藤 博正(is0671vx)" userId="26078f0f-b2fb-493a-8cf6-f434da0d0a48" providerId="ADAL" clId="{0DB24CF9-667B-41B4-9F59-049CC7C42A06}" dt="2026-02-02T02:48:15.246" v="4" actId="1038"/>
          <ac:spMkLst>
            <pc:docMk/>
            <pc:sldMk cId="929914264" sldId="298"/>
            <ac:spMk id="2" creationId="{400D513C-0A5C-3141-4E55-96835B13ABD6}"/>
          </ac:spMkLst>
        </pc:spChg>
      </pc:sldChg>
      <pc:sldChg chg="modSp mod modNotesTx">
        <pc:chgData name="佐藤 博正(is0671vx)" userId="26078f0f-b2fb-493a-8cf6-f434da0d0a48" providerId="ADAL" clId="{0DB24CF9-667B-41B4-9F59-049CC7C42A06}" dt="2026-02-02T04:25:01.186" v="62" actId="20577"/>
        <pc:sldMkLst>
          <pc:docMk/>
          <pc:sldMk cId="170130559" sldId="304"/>
        </pc:sldMkLst>
        <pc:spChg chg="mod">
          <ac:chgData name="佐藤 博正(is0671vx)" userId="26078f0f-b2fb-493a-8cf6-f434da0d0a48" providerId="ADAL" clId="{0DB24CF9-667B-41B4-9F59-049CC7C42A06}" dt="2026-02-02T02:48:00.399" v="0" actId="404"/>
          <ac:spMkLst>
            <pc:docMk/>
            <pc:sldMk cId="170130559" sldId="304"/>
            <ac:spMk id="2" creationId="{9B73A26F-CD25-E820-DFCD-C66F4E8702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18B5FE-48C3-4028-8DB7-E0628F280CD1}"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9E111-A6DB-42E1-9D79-761195452CAC}" type="slidenum">
              <a:rPr kumimoji="1" lang="ja-JP" altLang="en-US" smtClean="0"/>
              <a:t>‹#›</a:t>
            </a:fld>
            <a:endParaRPr kumimoji="1" lang="ja-JP" altLang="en-US"/>
          </a:p>
        </p:txBody>
      </p:sp>
    </p:spTree>
    <p:extLst>
      <p:ext uri="{BB962C8B-B14F-4D97-AF65-F5344CB8AC3E}">
        <p14:creationId xmlns:p14="http://schemas.microsoft.com/office/powerpoint/2010/main" val="19821117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現在、作業者の状態管理が困難という問題がある</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そこでセンサを用いる状態把握が必要になってくる</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ここで同じ行動でも場所により意味が変わる</a:t>
            </a:r>
            <a:r>
              <a:rPr kumimoji="1" lang="ja-JP" altLang="en-US" sz="1200" dirty="0"/>
              <a:t>場合が存在するので、</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状況把握には行為だけでなく、位置も含めて考える必要がある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よって、コンテキストを判定する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本研究では、まず</a:t>
            </a:r>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2</a:t>
            </a:fld>
            <a:endParaRPr kumimoji="1" lang="ja-JP" altLang="en-US"/>
          </a:p>
        </p:txBody>
      </p:sp>
    </p:spTree>
    <p:extLst>
      <p:ext uri="{BB962C8B-B14F-4D97-AF65-F5344CB8AC3E}">
        <p14:creationId xmlns:p14="http://schemas.microsoft.com/office/powerpoint/2010/main" val="3970097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2</a:t>
            </a:r>
            <a:r>
              <a:rPr lang="ja-JP" altLang="en-US" sz="1200" dirty="0"/>
              <a:t>段階に分けた手法</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モデルユーザの過去データから加速度を用いて行動の“型”を抽出し、ビーコン信号から位置判定モデルを学習</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これはオフライン環境での学習</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ターゲットユーザの現在データから行為をエッジデバイス（軽量</a:t>
            </a:r>
            <a:r>
              <a:rPr lang="en-US" altLang="ja-JP" sz="1200" dirty="0"/>
              <a:t>AI</a:t>
            </a:r>
            <a:r>
              <a:rPr lang="ja-JP" altLang="en-US" sz="1200" dirty="0"/>
              <a:t>）で即時推定、位置をサーバで推定</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エッジデバイスとは、センサに</a:t>
            </a:r>
            <a:r>
              <a:rPr lang="en-US" altLang="ja-JP" sz="1200" dirty="0"/>
              <a:t>AI</a:t>
            </a:r>
            <a:r>
              <a:rPr lang="ja-JP" altLang="en-US" sz="1200" dirty="0"/>
              <a:t>を組み込んだもの</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最終的</a:t>
            </a:r>
            <a:r>
              <a:rPr lang="ja-JP" altLang="en-US" sz="1100" dirty="0"/>
              <a:t>に位置情報と組み合わせてコンテキストを推定</a:t>
            </a:r>
            <a:endParaRPr lang="ja-JP" altLang="en-US" sz="1100" b="1" dirty="0"/>
          </a:p>
          <a:p>
            <a:endParaRPr kumimoji="1" lang="ja-JP" altLang="en-US"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3</a:t>
            </a:fld>
            <a:endParaRPr kumimoji="1" lang="ja-JP" altLang="en-US"/>
          </a:p>
        </p:txBody>
      </p:sp>
    </p:spTree>
    <p:extLst>
      <p:ext uri="{BB962C8B-B14F-4D97-AF65-F5344CB8AC3E}">
        <p14:creationId xmlns:p14="http://schemas.microsoft.com/office/powerpoint/2010/main" val="1923606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行為の疑似ラベル作成のために</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モデルユーザ一人をクラスタリングする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疑似ラベルの拡張のため</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クラスタリング結果を用いて他ユーザに割り当て</a:t>
            </a:r>
            <a:endParaRPr kumimoji="1" lang="en-US" altLang="ja-JP" dirty="0"/>
          </a:p>
          <a:p>
            <a:endParaRPr kumimoji="1" lang="en-US" altLang="ja-JP" dirty="0"/>
          </a:p>
          <a:p>
            <a:r>
              <a:rPr kumimoji="1" lang="ja-JP" altLang="en-US" dirty="0"/>
              <a:t>コンテキスト判定層では、エッジ</a:t>
            </a:r>
            <a:r>
              <a:rPr kumimoji="1" lang="en-US" altLang="ja-JP" dirty="0"/>
              <a:t>Ai</a:t>
            </a:r>
            <a:r>
              <a:rPr kumimoji="1" lang="ja-JP" altLang="en-US" dirty="0"/>
              <a:t>に疑似ラベルを</a:t>
            </a:r>
            <a:endParaRPr kumimoji="1" lang="en-US" altLang="ja-JP" dirty="0"/>
          </a:p>
          <a:p>
            <a:r>
              <a:rPr kumimoji="1" lang="ja-JP" altLang="en-US" dirty="0"/>
              <a:t>用いて行為のリアルタイム推定</a:t>
            </a:r>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4</a:t>
            </a:fld>
            <a:endParaRPr kumimoji="1" lang="ja-JP" altLang="en-US"/>
          </a:p>
        </p:txBody>
      </p:sp>
    </p:spTree>
    <p:extLst>
      <p:ext uri="{BB962C8B-B14F-4D97-AF65-F5344CB8AC3E}">
        <p14:creationId xmlns:p14="http://schemas.microsoft.com/office/powerpoint/2010/main" val="3886768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教師あり学習で位置推定</a:t>
            </a:r>
            <a:endParaRPr kumimoji="1" lang="en-US" altLang="ja-JP" dirty="0"/>
          </a:p>
          <a:p>
            <a:endParaRPr kumimoji="1" lang="en-US" altLang="ja-JP" dirty="0"/>
          </a:p>
          <a:p>
            <a:r>
              <a:rPr kumimoji="1" lang="ja-JP" altLang="en-US" dirty="0"/>
              <a:t>モデルの出力をそのまま使うのではなく、</a:t>
            </a:r>
            <a:endParaRPr kumimoji="1" lang="en-US" altLang="ja-JP" dirty="0"/>
          </a:p>
          <a:p>
            <a:r>
              <a:rPr kumimoji="1" lang="ja-JP" altLang="en-US" dirty="0"/>
              <a:t>前状態のクラス確率に状態遷移確率かける</a:t>
            </a:r>
            <a:endParaRPr kumimoji="1" lang="en-US" altLang="ja-JP" dirty="0"/>
          </a:p>
          <a:p>
            <a:r>
              <a:rPr kumimoji="1" lang="ja-JP" altLang="en-US" dirty="0"/>
              <a:t>その結果に現状の確率をかけることで</a:t>
            </a:r>
            <a:endParaRPr kumimoji="1" lang="en-US" altLang="ja-JP" dirty="0"/>
          </a:p>
          <a:p>
            <a:r>
              <a:rPr kumimoji="1" lang="ja-JP" altLang="en-US" dirty="0"/>
              <a:t>位置の平滑化をしてクラス推定</a:t>
            </a:r>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5</a:t>
            </a:fld>
            <a:endParaRPr kumimoji="1" lang="ja-JP" altLang="en-US"/>
          </a:p>
        </p:txBody>
      </p:sp>
    </p:spTree>
    <p:extLst>
      <p:ext uri="{BB962C8B-B14F-4D97-AF65-F5344CB8AC3E}">
        <p14:creationId xmlns:p14="http://schemas.microsoft.com/office/powerpoint/2010/main" val="381465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本実験では、</a:t>
            </a:r>
            <a:r>
              <a:rPr kumimoji="1" lang="en-US" altLang="ja-JP" dirty="0"/>
              <a:t>13</a:t>
            </a:r>
            <a:r>
              <a:rPr kumimoji="1" lang="ja-JP" altLang="en-US" dirty="0"/>
              <a:t>名の方に</a:t>
            </a:r>
            <a:r>
              <a:rPr kumimoji="1" lang="en-US" altLang="ja-JP" dirty="0"/>
              <a:t>2</a:t>
            </a:r>
            <a:r>
              <a:rPr kumimoji="1" lang="ja-JP" altLang="en-US" dirty="0"/>
              <a:t>種類の行動</a:t>
            </a:r>
            <a:endParaRPr kumimoji="1" lang="en-US" altLang="ja-JP" dirty="0"/>
          </a:p>
          <a:p>
            <a:r>
              <a:rPr kumimoji="1" lang="ja-JP" altLang="en-US" dirty="0"/>
              <a:t>データは加速度と、ビーコンからの</a:t>
            </a:r>
            <a:r>
              <a:rPr kumimoji="1" lang="en-US" altLang="ja-JP" dirty="0"/>
              <a:t>LQI</a:t>
            </a:r>
            <a:r>
              <a:rPr kumimoji="1" lang="ja-JP" altLang="en-US" dirty="0"/>
              <a:t>になる</a:t>
            </a:r>
            <a:endParaRPr kumimoji="1" lang="en-US" altLang="ja-JP" dirty="0"/>
          </a:p>
          <a:p>
            <a:r>
              <a:rPr kumimoji="1" lang="ja-JP" altLang="en-US" dirty="0"/>
              <a:t>これに対して特徴量作成をしました。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6</a:t>
            </a:fld>
            <a:endParaRPr kumimoji="1" lang="ja-JP" altLang="en-US"/>
          </a:p>
        </p:txBody>
      </p:sp>
    </p:spTree>
    <p:extLst>
      <p:ext uri="{BB962C8B-B14F-4D97-AF65-F5344CB8AC3E}">
        <p14:creationId xmlns:p14="http://schemas.microsoft.com/office/powerpoint/2010/main" val="306122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ウィンドウ特徴量を作成する際のウィンドウ長によるクラスタリング精度の変化を確認</a:t>
            </a:r>
            <a:endParaRPr kumimoji="1" lang="en-US" altLang="ja-JP" dirty="0"/>
          </a:p>
          <a:p>
            <a:endParaRPr kumimoji="1" lang="en-US" altLang="ja-JP" dirty="0"/>
          </a:p>
          <a:p>
            <a:r>
              <a:rPr kumimoji="1" lang="ja-JP" altLang="en-US" dirty="0"/>
              <a:t>評価は</a:t>
            </a:r>
            <a:endParaRPr kumimoji="1" lang="en-US" altLang="ja-JP" dirty="0"/>
          </a:p>
          <a:p>
            <a:r>
              <a:rPr kumimoji="1" lang="en-US" altLang="ja-JP" dirty="0"/>
              <a:t>Balance accuracy</a:t>
            </a:r>
            <a:r>
              <a:rPr kumimoji="1" lang="ja-JP" altLang="en-US" dirty="0"/>
              <a:t>をメインとして扱う</a:t>
            </a:r>
            <a:endParaRPr kumimoji="1" lang="en-US" altLang="ja-JP" dirty="0"/>
          </a:p>
          <a:p>
            <a:r>
              <a:rPr kumimoji="1" lang="en-US" altLang="ja-JP" dirty="0"/>
              <a:t>Acc</a:t>
            </a:r>
            <a:r>
              <a:rPr kumimoji="1" lang="ja-JP" altLang="en-US" dirty="0"/>
              <a:t>は多数クラスに引っ張られる</a:t>
            </a:r>
            <a:endParaRPr kumimoji="1" lang="en-US" altLang="ja-JP" dirty="0"/>
          </a:p>
          <a:p>
            <a:endParaRPr kumimoji="1" lang="en-US" altLang="ja-JP" dirty="0"/>
          </a:p>
          <a:p>
            <a:pPr marL="0" indent="0">
              <a:lnSpc>
                <a:spcPct val="150000"/>
              </a:lnSpc>
              <a:buNone/>
            </a:pPr>
            <a:r>
              <a:rPr lang="ja-JP" altLang="en-US" sz="1200" dirty="0"/>
              <a:t>＜加速度クラスタリング結果＞</a:t>
            </a:r>
          </a:p>
          <a:p>
            <a:pPr>
              <a:lnSpc>
                <a:spcPct val="150000"/>
              </a:lnSpc>
            </a:pPr>
            <a:r>
              <a:rPr lang="en-US" altLang="ja-JP" sz="1200" dirty="0"/>
              <a:t>Balance</a:t>
            </a:r>
            <a:r>
              <a:rPr lang="ja-JP" altLang="en-US" sz="1200" dirty="0"/>
              <a:t> </a:t>
            </a:r>
            <a:r>
              <a:rPr lang="en-US" altLang="ja-JP" sz="1200" dirty="0"/>
              <a:t>Accuracy</a:t>
            </a:r>
            <a:r>
              <a:rPr lang="ja-JP" altLang="en-US" sz="1200" dirty="0"/>
              <a:t> は</a:t>
            </a:r>
            <a:r>
              <a:rPr lang="en-US" altLang="ja-JP" sz="1200" dirty="0"/>
              <a:t>512</a:t>
            </a:r>
            <a:r>
              <a:rPr lang="ja-JP" altLang="en-US" sz="1200" dirty="0"/>
              <a:t>で</a:t>
            </a:r>
            <a:r>
              <a:rPr lang="ja-JP" altLang="en-US" sz="1200" b="1" dirty="0"/>
              <a:t> </a:t>
            </a:r>
            <a:r>
              <a:rPr lang="en-US" altLang="ja-JP" sz="1200" b="1" dirty="0"/>
              <a:t>0.893</a:t>
            </a:r>
          </a:p>
          <a:p>
            <a:pPr>
              <a:lnSpc>
                <a:spcPct val="150000"/>
              </a:lnSpc>
            </a:pPr>
            <a:r>
              <a:rPr lang="ja-JP" altLang="en-US" sz="1200" dirty="0"/>
              <a:t>多数クラスと少数クラスではトレードオフ</a:t>
            </a:r>
            <a:endParaRPr lang="en-US" altLang="ja-JP" sz="1200" dirty="0"/>
          </a:p>
          <a:p>
            <a:pPr marL="0" marR="0" lvl="0" indent="0" algn="l" defTabSz="914400" rtl="0" eaLnBrk="1" fontAlgn="auto" latinLnBrk="0" hangingPunct="1">
              <a:lnSpc>
                <a:spcPct val="150000"/>
              </a:lnSpc>
              <a:spcBef>
                <a:spcPts val="0"/>
              </a:spcBef>
              <a:spcAft>
                <a:spcPts val="0"/>
              </a:spcAft>
              <a:buClrTx/>
              <a:buSzTx/>
              <a:buFontTx/>
              <a:buNone/>
              <a:tabLst/>
              <a:defRPr/>
            </a:pPr>
            <a:r>
              <a:rPr lang="ja-JP" altLang="en-US" sz="1200" dirty="0"/>
              <a:t>クラスタの質は </a:t>
            </a:r>
            <a:r>
              <a:rPr lang="ja-JP" altLang="en-US" sz="1200" b="1" dirty="0"/>
              <a:t>セグメント長に依存</a:t>
            </a:r>
            <a:r>
              <a:rPr lang="ja-JP" altLang="en-US" sz="1200" dirty="0"/>
              <a:t> すると予想</a:t>
            </a:r>
          </a:p>
          <a:p>
            <a:pPr>
              <a:lnSpc>
                <a:spcPct val="150000"/>
              </a:lnSpc>
            </a:pPr>
            <a:endParaRPr lang="en-US" altLang="ja-JP" sz="1200" dirty="0"/>
          </a:p>
          <a:p>
            <a:pPr marL="0" marR="0" lvl="0" indent="0" algn="l" defTabSz="914400" rtl="0" eaLnBrk="1" fontAlgn="auto" latinLnBrk="0" hangingPunct="1">
              <a:lnSpc>
                <a:spcPct val="150000"/>
              </a:lnSpc>
              <a:spcBef>
                <a:spcPts val="0"/>
              </a:spcBef>
              <a:spcAft>
                <a:spcPts val="0"/>
              </a:spcAft>
              <a:buClrTx/>
              <a:buSzTx/>
              <a:buFontTx/>
              <a:buNone/>
              <a:tabLst/>
              <a:defRPr/>
            </a:pPr>
            <a:r>
              <a:rPr lang="ja-JP" altLang="en-US" sz="1200" dirty="0">
                <a:ln>
                  <a:solidFill>
                    <a:schemeClr val="bg1"/>
                  </a:solidFill>
                </a:ln>
                <a:solidFill>
                  <a:schemeClr val="bg1"/>
                </a:solidFill>
              </a:rPr>
              <a:t>本研究では、</a:t>
            </a:r>
            <a:r>
              <a:rPr lang="en-US" altLang="ja-JP" sz="1200" dirty="0">
                <a:ln>
                  <a:solidFill>
                    <a:schemeClr val="bg1"/>
                  </a:solidFill>
                </a:ln>
                <a:solidFill>
                  <a:schemeClr val="bg1"/>
                </a:solidFill>
              </a:rPr>
              <a:t>Window size</a:t>
            </a:r>
            <a:r>
              <a:rPr lang="ja-JP" altLang="en-US" sz="1200" dirty="0">
                <a:ln>
                  <a:solidFill>
                    <a:schemeClr val="bg1"/>
                  </a:solidFill>
                </a:ln>
                <a:solidFill>
                  <a:schemeClr val="bg1"/>
                </a:solidFill>
              </a:rPr>
              <a:t>は</a:t>
            </a:r>
            <a:r>
              <a:rPr lang="en-US" altLang="ja-JP" sz="1200" dirty="0">
                <a:ln>
                  <a:solidFill>
                    <a:schemeClr val="bg1"/>
                  </a:solidFill>
                </a:ln>
                <a:solidFill>
                  <a:schemeClr val="bg1"/>
                </a:solidFill>
              </a:rPr>
              <a:t>512</a:t>
            </a:r>
            <a:r>
              <a:rPr lang="ja-JP" altLang="en-US" sz="1200" dirty="0">
                <a:ln>
                  <a:solidFill>
                    <a:schemeClr val="bg1"/>
                  </a:solidFill>
                </a:ln>
                <a:solidFill>
                  <a:schemeClr val="bg1"/>
                </a:solidFill>
              </a:rPr>
              <a:t>を選択</a:t>
            </a:r>
            <a:endParaRPr lang="ja-JP" altLang="en-US" sz="1200"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7</a:t>
            </a:fld>
            <a:endParaRPr kumimoji="1" lang="ja-JP" altLang="en-US"/>
          </a:p>
        </p:txBody>
      </p:sp>
    </p:spTree>
    <p:extLst>
      <p:ext uri="{BB962C8B-B14F-4D97-AF65-F5344CB8AC3E}">
        <p14:creationId xmlns:p14="http://schemas.microsoft.com/office/powerpoint/2010/main" val="2238281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クラスタリング結果を</a:t>
            </a:r>
            <a:r>
              <a:rPr kumimoji="1" lang="en-US" altLang="ja-JP" dirty="0"/>
              <a:t>random</a:t>
            </a:r>
            <a:r>
              <a:rPr kumimoji="1" lang="ja-JP" altLang="en-US" dirty="0"/>
              <a:t>フォレストに学習させて</a:t>
            </a:r>
            <a:endParaRPr kumimoji="1" lang="en-US" altLang="ja-JP" dirty="0"/>
          </a:p>
          <a:p>
            <a:r>
              <a:rPr kumimoji="1" lang="ja-JP" altLang="en-US" dirty="0"/>
              <a:t>変数重要度を確認</a:t>
            </a:r>
            <a:endParaRPr kumimoji="1" lang="en-US" altLang="ja-JP" dirty="0"/>
          </a:p>
          <a:p>
            <a:endParaRPr kumimoji="1" lang="en-US" altLang="ja-JP" dirty="0"/>
          </a:p>
          <a:p>
            <a:r>
              <a:rPr kumimoji="1" lang="ja-JP" altLang="en-US" dirty="0"/>
              <a:t>上の図から重要度が高い変数には、</a:t>
            </a:r>
            <a:r>
              <a:rPr kumimoji="1" lang="en-US" altLang="ja-JP" dirty="0"/>
              <a:t>x</a:t>
            </a:r>
            <a:r>
              <a:rPr kumimoji="1" lang="ja-JP" altLang="en-US" dirty="0"/>
              <a:t>軸の周波数帯の特徴量が集まる</a:t>
            </a:r>
            <a:endParaRPr kumimoji="1" lang="en-US" altLang="ja-JP" dirty="0"/>
          </a:p>
          <a:p>
            <a:endParaRPr kumimoji="1" lang="en-US" altLang="ja-JP" dirty="0"/>
          </a:p>
          <a:p>
            <a:r>
              <a:rPr kumimoji="1" lang="ja-JP" altLang="en-US" dirty="0"/>
              <a:t>最も重要度が高い変数を下の図で確認すると、</a:t>
            </a:r>
            <a:endParaRPr kumimoji="1" lang="en-US" altLang="ja-JP" dirty="0"/>
          </a:p>
          <a:p>
            <a:r>
              <a:rPr kumimoji="1" lang="ja-JP" altLang="en-US" dirty="0"/>
              <a:t>少数クラスの値が相対的に高い</a:t>
            </a:r>
            <a:endParaRPr kumimoji="1" lang="en-US" altLang="ja-JP" dirty="0"/>
          </a:p>
          <a:p>
            <a:endParaRPr kumimoji="1" lang="en-US" altLang="ja-JP" dirty="0"/>
          </a:p>
          <a:p>
            <a:r>
              <a:rPr kumimoji="1" lang="ja-JP" altLang="en-US" dirty="0"/>
              <a:t>以上から、周波数帯は強い値が。。</a:t>
            </a:r>
            <a:endParaRPr kumimoji="1" lang="en-US" altLang="ja-JP" dirty="0"/>
          </a:p>
          <a:p>
            <a:r>
              <a:rPr kumimoji="1" lang="ja-JP" altLang="en-US" dirty="0"/>
              <a:t>影響を強く受けるので、ウィンドウ長を</a:t>
            </a:r>
            <a:endParaRPr kumimoji="1" lang="en-US" altLang="ja-JP" dirty="0"/>
          </a:p>
          <a:p>
            <a:endParaRPr kumimoji="1" lang="en-US" altLang="ja-JP" dirty="0"/>
          </a:p>
          <a:p>
            <a:r>
              <a:rPr kumimoji="1" lang="ja-JP" altLang="en-US" dirty="0"/>
              <a:t>これがトレードオフの原因</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n>
                  <a:solidFill>
                    <a:schemeClr val="bg1"/>
                  </a:solidFill>
                </a:ln>
                <a:solidFill>
                  <a:schemeClr val="bg1"/>
                </a:solidFill>
              </a:rPr>
              <a:t>このことから、</a:t>
            </a:r>
            <a:r>
              <a:rPr lang="ja-JP" altLang="en-US" sz="1200" dirty="0">
                <a:ln>
                  <a:solidFill>
                    <a:schemeClr val="bg1"/>
                  </a:solidFill>
                </a:ln>
                <a:solidFill>
                  <a:schemeClr val="bg1"/>
                </a:solidFill>
              </a:rPr>
              <a:t>行為時間に合わせた設計が必要</a:t>
            </a:r>
            <a:r>
              <a:rPr kumimoji="1" lang="ja-JP" altLang="en-US" sz="1200" dirty="0">
                <a:ln>
                  <a:solidFill>
                    <a:schemeClr val="bg1"/>
                  </a:solidFill>
                </a:ln>
                <a:solidFill>
                  <a:schemeClr val="bg1"/>
                </a:solidFill>
              </a:rPr>
              <a:t>になります</a:t>
            </a:r>
            <a:endParaRPr lang="ja-JP" altLang="en-US" sz="1200" dirty="0">
              <a:ln>
                <a:solidFill>
                  <a:schemeClr val="bg1"/>
                </a:solidFill>
              </a:ln>
              <a:solidFill>
                <a:schemeClr val="bg1"/>
              </a:solidFill>
            </a:endParaRPr>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8</a:t>
            </a:fld>
            <a:endParaRPr kumimoji="1" lang="ja-JP" altLang="en-US"/>
          </a:p>
        </p:txBody>
      </p:sp>
    </p:spTree>
    <p:extLst>
      <p:ext uri="{BB962C8B-B14F-4D97-AF65-F5344CB8AC3E}">
        <p14:creationId xmlns:p14="http://schemas.microsoft.com/office/powerpoint/2010/main" val="3650104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クラスタリング結果を用いた行為割り当ての結果</a:t>
            </a:r>
            <a:endParaRPr kumimoji="1" lang="en-US" altLang="ja-JP" dirty="0"/>
          </a:p>
          <a:p>
            <a:r>
              <a:rPr kumimoji="1" lang="ja-JP" altLang="en-US" dirty="0"/>
              <a:t>モデルユーザごとにラベルの割り当てを行い、</a:t>
            </a:r>
            <a:r>
              <a:rPr kumimoji="1" lang="en-US" altLang="ja-JP" dirty="0"/>
              <a:t>F1</a:t>
            </a:r>
            <a:r>
              <a:rPr kumimoji="1" lang="ja-JP" altLang="en-US" dirty="0"/>
              <a:t>スコアで評価</a:t>
            </a:r>
            <a:endParaRPr kumimoji="1" lang="en-US" altLang="ja-JP" dirty="0"/>
          </a:p>
          <a:p>
            <a:endParaRPr kumimoji="1" lang="en-US" altLang="ja-JP" dirty="0"/>
          </a:p>
          <a:p>
            <a:r>
              <a:rPr kumimoji="1" lang="ja-JP" altLang="en-US" dirty="0"/>
              <a:t>まず、平均</a:t>
            </a:r>
            <a:r>
              <a:rPr kumimoji="1" lang="en-US" altLang="ja-JP" dirty="0"/>
              <a:t>F1</a:t>
            </a:r>
            <a:r>
              <a:rPr kumimoji="1" lang="ja-JP" altLang="en-US" dirty="0"/>
              <a:t>が</a:t>
            </a:r>
            <a:r>
              <a:rPr kumimoji="1" lang="en-US" altLang="ja-JP" dirty="0"/>
              <a:t>0.8</a:t>
            </a:r>
            <a:r>
              <a:rPr kumimoji="1" lang="ja-JP" altLang="en-US" dirty="0"/>
              <a:t>なので、割り当てによる疑似ラベルデータの拡張は可能</a:t>
            </a:r>
            <a:endParaRPr kumimoji="1" lang="en-US" altLang="ja-JP" dirty="0"/>
          </a:p>
          <a:p>
            <a:r>
              <a:rPr kumimoji="1" lang="ja-JP" altLang="en-US" dirty="0"/>
              <a:t>また、正の相関はない</a:t>
            </a:r>
            <a:endParaRPr kumimoji="1" lang="en-US" altLang="ja-JP" dirty="0"/>
          </a:p>
          <a:p>
            <a:endParaRPr kumimoji="1" lang="en-US" altLang="ja-JP" dirty="0"/>
          </a:p>
          <a:p>
            <a:r>
              <a:rPr kumimoji="1" lang="ja-JP" altLang="en-US" dirty="0"/>
              <a:t>ここで、</a:t>
            </a:r>
            <a:endParaRPr kumimoji="1" lang="en-US" altLang="ja-JP" dirty="0"/>
          </a:p>
          <a:p>
            <a:r>
              <a:rPr kumimoji="1" lang="ja-JP" altLang="en-US" dirty="0"/>
              <a:t>クラスタリング精度が高い：一人の中で行動がわかりやすい</a:t>
            </a:r>
            <a:endParaRPr kumimoji="1" lang="en-US" altLang="ja-JP" dirty="0"/>
          </a:p>
          <a:p>
            <a:r>
              <a:rPr kumimoji="1" lang="ja-JP" altLang="en-US" dirty="0"/>
              <a:t>割り当て精度が高い：行動が一般的</a:t>
            </a:r>
            <a:endParaRPr kumimoji="1" lang="en-US" altLang="ja-JP" dirty="0"/>
          </a:p>
          <a:p>
            <a:endParaRPr kumimoji="1" lang="en-US" altLang="ja-JP" dirty="0"/>
          </a:p>
          <a:p>
            <a:r>
              <a:rPr kumimoji="1" lang="ja-JP" altLang="en-US" dirty="0"/>
              <a:t>最終的なモデルユーザ設計としては</a:t>
            </a:r>
            <a:endParaRPr kumimoji="1" lang="en-US" altLang="ja-JP"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9</a:t>
            </a:fld>
            <a:endParaRPr kumimoji="1" lang="ja-JP" altLang="en-US"/>
          </a:p>
        </p:txBody>
      </p:sp>
    </p:spTree>
    <p:extLst>
      <p:ext uri="{BB962C8B-B14F-4D97-AF65-F5344CB8AC3E}">
        <p14:creationId xmlns:p14="http://schemas.microsoft.com/office/powerpoint/2010/main" val="1128735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疑似ラベルを使用して、軽量モデルで分類</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訓練者数を変えた場合のターゲットユーザの平均</a:t>
            </a:r>
            <a:r>
              <a:rPr kumimoji="1" lang="en-US" altLang="ja-JP" dirty="0"/>
              <a:t>F1</a:t>
            </a:r>
            <a:r>
              <a:rPr kumimoji="1" lang="ja-JP" altLang="en-US" dirty="0"/>
              <a:t>を表示</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精度は</a:t>
            </a:r>
            <a:r>
              <a:rPr kumimoji="1" lang="en-US" altLang="ja-JP" dirty="0"/>
              <a:t>F1</a:t>
            </a:r>
            <a:r>
              <a:rPr kumimoji="1" lang="ja-JP" altLang="en-US" dirty="0"/>
              <a:t>スコアが</a:t>
            </a:r>
            <a:r>
              <a:rPr kumimoji="1" lang="en-US" altLang="ja-JP" dirty="0"/>
              <a:t>0.85</a:t>
            </a:r>
            <a:r>
              <a:rPr kumimoji="1" lang="ja-JP" altLang="en-US" dirty="0"/>
              <a:t>以上</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5</a:t>
            </a:r>
            <a:r>
              <a:rPr kumimoji="1" lang="ja-JP" altLang="en-US" dirty="0"/>
              <a:t>人訓練で</a:t>
            </a:r>
            <a:r>
              <a:rPr kumimoji="1" lang="en-US" altLang="ja-JP" dirty="0"/>
              <a:t>0.89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a:lnSpc>
                <a:spcPct val="150000"/>
              </a:lnSpc>
            </a:pPr>
            <a:r>
              <a:rPr kumimoji="1" lang="ja-JP" altLang="en-US" dirty="0"/>
              <a:t>推定精度は</a:t>
            </a:r>
            <a:r>
              <a:rPr kumimoji="1" lang="en-US" altLang="ja-JP" dirty="0"/>
              <a:t>0.85</a:t>
            </a:r>
            <a:r>
              <a:rPr kumimoji="1" lang="ja-JP" altLang="en-US" dirty="0"/>
              <a:t>以上</a:t>
            </a:r>
            <a:endParaRPr kumimoji="1" lang="en-US" altLang="ja-JP" sz="1200" dirty="0"/>
          </a:p>
          <a:p>
            <a:pPr>
              <a:lnSpc>
                <a:spcPct val="150000"/>
              </a:lnSpc>
            </a:pPr>
            <a:r>
              <a:rPr kumimoji="1" lang="ja-JP" altLang="en-US" sz="1200" dirty="0"/>
              <a:t>　</a:t>
            </a:r>
            <a:r>
              <a:rPr kumimoji="1" lang="ja-JP" altLang="en-US" sz="2600" dirty="0"/>
              <a:t>→ エッジ</a:t>
            </a:r>
            <a:r>
              <a:rPr kumimoji="1" lang="en-US" altLang="ja-JP" sz="2600" dirty="0"/>
              <a:t>AI</a:t>
            </a:r>
            <a:r>
              <a:rPr kumimoji="1" lang="ja-JP" altLang="en-US" sz="2600" dirty="0"/>
              <a:t>で実用的な分類モデルを構築できる</a:t>
            </a:r>
            <a:endParaRPr kumimoji="1" lang="en-US" altLang="ja-JP" sz="2600" dirty="0"/>
          </a:p>
          <a:p>
            <a:pPr>
              <a:lnSpc>
                <a:spcPct val="150000"/>
              </a:lnSpc>
            </a:pPr>
            <a:r>
              <a:rPr kumimoji="1" lang="ja-JP" altLang="en-US" sz="3000" dirty="0"/>
              <a:t>訓練データ増加に伴う精度の上昇</a:t>
            </a:r>
            <a:endParaRPr kumimoji="1" lang="en-US" altLang="ja-JP" sz="3000" dirty="0"/>
          </a:p>
          <a:p>
            <a:pPr>
              <a:lnSpc>
                <a:spcPct val="150000"/>
              </a:lnSpc>
            </a:pPr>
            <a:r>
              <a:rPr kumimoji="1" lang="ja-JP" altLang="en-US" sz="3000" dirty="0"/>
              <a:t>　</a:t>
            </a:r>
            <a:r>
              <a:rPr kumimoji="1" lang="ja-JP" altLang="en-US" sz="2600" dirty="0"/>
              <a:t>→ 割り当てによる疑似ラベル付きデータの拡張がある程度可能</a:t>
            </a:r>
            <a:endParaRPr kumimoji="1" lang="en-US" altLang="ja-JP" sz="2600" dirty="0"/>
          </a:p>
          <a:p>
            <a:pPr>
              <a:lnSpc>
                <a:spcPct val="150000"/>
              </a:lnSpc>
            </a:pPr>
            <a:r>
              <a:rPr lang="ja-JP" altLang="en-US" dirty="0"/>
              <a:t>訓練データを増やした場合、精度の頭打ち</a:t>
            </a:r>
            <a:endParaRPr kumimoji="1" lang="en-US" altLang="ja-JP" sz="1200" dirty="0"/>
          </a:p>
          <a:p>
            <a:pPr>
              <a:lnSpc>
                <a:spcPct val="150000"/>
              </a:lnSpc>
            </a:pPr>
            <a:r>
              <a:rPr kumimoji="1" lang="ja-JP" altLang="en-US" sz="2600" dirty="0"/>
              <a:t>　→ 疑似ラベルの限界、学習できる特徴が重複している</a:t>
            </a:r>
            <a:endParaRPr kumimoji="1" lang="en-US" altLang="ja-JP" sz="3000"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10</a:t>
            </a:fld>
            <a:endParaRPr kumimoji="1" lang="ja-JP" altLang="en-US"/>
          </a:p>
        </p:txBody>
      </p:sp>
    </p:spTree>
    <p:extLst>
      <p:ext uri="{BB962C8B-B14F-4D97-AF65-F5344CB8AC3E}">
        <p14:creationId xmlns:p14="http://schemas.microsoft.com/office/powerpoint/2010/main" val="2754591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ここまでの行為推定の結果から</a:t>
            </a:r>
            <a:endParaRPr kumimoji="1" lang="en-US" altLang="ja-JP" dirty="0"/>
          </a:p>
          <a:p>
            <a:r>
              <a:rPr kumimoji="1" lang="ja-JP" altLang="en-US" dirty="0"/>
              <a:t>教師なしクラスタリング：疑似ラベル生成</a:t>
            </a:r>
            <a:endParaRPr kumimoji="1" lang="en-US" altLang="ja-JP" dirty="0"/>
          </a:p>
          <a:p>
            <a:r>
              <a:rPr kumimoji="1" lang="ja-JP" altLang="en-US" dirty="0"/>
              <a:t>割り当てモデル：疑似ラベルデータの拡張</a:t>
            </a:r>
            <a:endParaRPr kumimoji="1" lang="en-US" altLang="ja-JP" dirty="0"/>
          </a:p>
          <a:p>
            <a:r>
              <a:rPr kumimoji="1" lang="ja-JP" altLang="en-US" dirty="0"/>
              <a:t>エッジ</a:t>
            </a:r>
            <a:r>
              <a:rPr kumimoji="1" lang="en-US" altLang="ja-JP" dirty="0"/>
              <a:t>AI</a:t>
            </a:r>
            <a:r>
              <a:rPr kumimoji="1" lang="ja-JP" altLang="en-US" dirty="0"/>
              <a:t>による軽量モデルでの推定</a:t>
            </a:r>
            <a:endParaRPr kumimoji="1" lang="en-US" altLang="ja-JP" dirty="0"/>
          </a:p>
          <a:p>
            <a:r>
              <a:rPr kumimoji="1" lang="ja-JP" altLang="en-US" dirty="0"/>
              <a:t>合わせてリアルタイム推定を行った結果、</a:t>
            </a:r>
            <a:r>
              <a:rPr kumimoji="1" lang="en-US" altLang="ja-JP" dirty="0"/>
              <a:t>0.85</a:t>
            </a:r>
            <a:r>
              <a:rPr kumimoji="1" lang="ja-JP" altLang="en-US" dirty="0"/>
              <a:t>の精度が得られた</a:t>
            </a:r>
            <a:endParaRPr kumimoji="1" lang="en-US" altLang="ja-JP" dirty="0"/>
          </a:p>
          <a:p>
            <a:endParaRPr kumimoji="1" lang="en-US" altLang="ja-JP" dirty="0"/>
          </a:p>
          <a:p>
            <a:r>
              <a:rPr kumimoji="1" lang="ja-JP" altLang="en-US" dirty="0"/>
              <a:t>右図のようにクラスの</a:t>
            </a:r>
            <a:r>
              <a:rPr lang="ja-JP" altLang="en-US" dirty="0"/>
              <a:t>遷移に対応するピークがある場合、</a:t>
            </a:r>
            <a:endParaRPr lang="en-US" altLang="ja-JP" dirty="0"/>
          </a:p>
          <a:p>
            <a:r>
              <a:rPr lang="ja-JP" altLang="en-US" dirty="0"/>
              <a:t>それが判別の手がかり</a:t>
            </a:r>
            <a:r>
              <a:rPr kumimoji="1" lang="ja-JP" altLang="en-US" dirty="0"/>
              <a:t>になり、誤検知の原因になると考えられます</a:t>
            </a:r>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11</a:t>
            </a:fld>
            <a:endParaRPr kumimoji="1" lang="ja-JP" altLang="en-US"/>
          </a:p>
        </p:txBody>
      </p:sp>
    </p:spTree>
    <p:extLst>
      <p:ext uri="{BB962C8B-B14F-4D97-AF65-F5344CB8AC3E}">
        <p14:creationId xmlns:p14="http://schemas.microsoft.com/office/powerpoint/2010/main" val="3987565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被験者ごとに行為、位置を独立に推定した結果</a:t>
            </a:r>
            <a:endParaRPr kumimoji="1" lang="en-US" altLang="ja-JP" dirty="0"/>
          </a:p>
          <a:p>
            <a:r>
              <a:rPr kumimoji="1" lang="ja-JP" altLang="en-US" dirty="0"/>
              <a:t>時刻同期で行為と位置の両方をあわせたコンテキスト推定の結果</a:t>
            </a:r>
            <a:endParaRPr kumimoji="1" lang="en-US" altLang="ja-JP" dirty="0"/>
          </a:p>
          <a:p>
            <a:r>
              <a:rPr kumimoji="1" lang="ja-JP" altLang="en-US" dirty="0"/>
              <a:t>位置の平均推定精度は</a:t>
            </a:r>
            <a:r>
              <a:rPr kumimoji="1" lang="en-US" altLang="ja-JP" b="1" dirty="0"/>
              <a:t>0.87</a:t>
            </a:r>
          </a:p>
          <a:p>
            <a:r>
              <a:rPr kumimoji="1" lang="ja-JP" altLang="en-US" dirty="0"/>
              <a:t>平均コンテキスト：</a:t>
            </a:r>
            <a:r>
              <a:rPr kumimoji="1" lang="en-US" altLang="ja-JP" b="1" dirty="0"/>
              <a:t>0.753</a:t>
            </a:r>
          </a:p>
          <a:p>
            <a:endParaRPr kumimoji="1" lang="en-US" altLang="ja-JP" b="1" dirty="0"/>
          </a:p>
          <a:p>
            <a:r>
              <a:rPr kumimoji="1" lang="ja-JP" altLang="en-US" b="0" dirty="0"/>
              <a:t>行為と位置の精度を掛け合わせると、</a:t>
            </a:r>
            <a:endParaRPr kumimoji="1" lang="en-US" altLang="ja-JP" b="0" dirty="0"/>
          </a:p>
          <a:p>
            <a:r>
              <a:rPr lang="en-US" altLang="ja-JP" dirty="0"/>
              <a:t>0.874×0.870≒</a:t>
            </a:r>
            <a:r>
              <a:rPr lang="en-US" altLang="ja-JP" b="1" dirty="0"/>
              <a:t>0.760</a:t>
            </a:r>
          </a:p>
          <a:p>
            <a:r>
              <a:rPr lang="ja-JP" altLang="en-US" b="0" dirty="0"/>
              <a:t>となり、実際の精度と</a:t>
            </a:r>
            <a:r>
              <a:rPr kumimoji="1" lang="ja-JP" altLang="en-US" b="0" dirty="0"/>
              <a:t>ほとんど差がないことから、</a:t>
            </a:r>
            <a:endParaRPr kumimoji="1" lang="en-US" altLang="ja-JP" b="0" dirty="0"/>
          </a:p>
          <a:p>
            <a:r>
              <a:rPr kumimoji="1" lang="ja-JP" altLang="en-US" b="0" dirty="0"/>
              <a:t>行為は個人差、位置はデータ品質のように、</a:t>
            </a:r>
            <a:endParaRPr kumimoji="1" lang="en-US" altLang="ja-JP" b="0" dirty="0"/>
          </a:p>
          <a:p>
            <a:r>
              <a:rPr kumimoji="1" lang="ja-JP" altLang="en-US" b="0" dirty="0"/>
              <a:t>両者の誤りに関係はないと考えられる</a:t>
            </a:r>
            <a:endParaRPr kumimoji="1" lang="en-US" altLang="ja-JP" b="0" dirty="0"/>
          </a:p>
          <a:p>
            <a:endParaRPr kumimoji="1" lang="en-US" altLang="ja-JP" b="0" dirty="0"/>
          </a:p>
          <a:p>
            <a:r>
              <a:rPr kumimoji="1" lang="ja-JP" altLang="en-US" b="0" dirty="0"/>
              <a:t>よってコンテキスト精度の改善には、行為と位置のそれぞれの改善、同期処理の工夫が必要</a:t>
            </a:r>
            <a:endParaRPr kumimoji="1" lang="en-US" altLang="ja-JP" b="0"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12</a:t>
            </a:fld>
            <a:endParaRPr kumimoji="1" lang="ja-JP" altLang="en-US"/>
          </a:p>
        </p:txBody>
      </p:sp>
    </p:spTree>
    <p:extLst>
      <p:ext uri="{BB962C8B-B14F-4D97-AF65-F5344CB8AC3E}">
        <p14:creationId xmlns:p14="http://schemas.microsoft.com/office/powerpoint/2010/main" val="1758190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13</a:t>
            </a:fld>
            <a:endParaRPr kumimoji="1" lang="ja-JP" altLang="en-US"/>
          </a:p>
        </p:txBody>
      </p:sp>
    </p:spTree>
    <p:extLst>
      <p:ext uri="{BB962C8B-B14F-4D97-AF65-F5344CB8AC3E}">
        <p14:creationId xmlns:p14="http://schemas.microsoft.com/office/powerpoint/2010/main" val="4154950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pPr>
            <a:r>
              <a:rPr lang="ja-JP" altLang="en-US" sz="2400" dirty="0"/>
              <a:t>分類モデルのみの</a:t>
            </a:r>
            <a:r>
              <a:rPr kumimoji="1" lang="ja-JP" altLang="en-US" sz="2400" dirty="0"/>
              <a:t>精度はいいとは言えない</a:t>
            </a:r>
            <a:endParaRPr kumimoji="1" lang="en-US" altLang="ja-JP" sz="2400" dirty="0"/>
          </a:p>
          <a:p>
            <a:pPr>
              <a:lnSpc>
                <a:spcPct val="150000"/>
              </a:lnSpc>
            </a:pPr>
            <a:r>
              <a:rPr kumimoji="1" lang="ja-JP" altLang="en-US" sz="2400" dirty="0"/>
              <a:t>　</a:t>
            </a:r>
            <a:r>
              <a:rPr lang="ja-JP" altLang="en-US" sz="2000" dirty="0"/>
              <a:t>→ビーコン特徴量を用いても分類では安定しない</a:t>
            </a:r>
            <a:endParaRPr lang="en-US" altLang="ja-JP" sz="2000" dirty="0"/>
          </a:p>
          <a:p>
            <a:pPr>
              <a:lnSpc>
                <a:spcPct val="150000"/>
              </a:lnSpc>
            </a:pPr>
            <a:r>
              <a:rPr lang="ja-JP" altLang="en-US" sz="2400" dirty="0"/>
              <a:t>特徴量化よりも平滑化のほうが精度向上に寄与</a:t>
            </a:r>
            <a:endParaRPr lang="en-US" altLang="ja-JP" sz="2400" dirty="0"/>
          </a:p>
          <a:p>
            <a:pPr>
              <a:lnSpc>
                <a:spcPct val="150000"/>
              </a:lnSpc>
            </a:pPr>
            <a:r>
              <a:rPr lang="ja-JP" altLang="en-US" sz="2400" dirty="0"/>
              <a:t>　</a:t>
            </a:r>
            <a:r>
              <a:rPr lang="ja-JP" altLang="en-US" sz="2000" dirty="0"/>
              <a:t>→受信データに揺らぎ、欠損が多いことが原因</a:t>
            </a:r>
            <a:endParaRPr lang="en-US" altLang="ja-JP" sz="2000" dirty="0"/>
          </a:p>
          <a:p>
            <a:pPr marL="0" indent="0">
              <a:lnSpc>
                <a:spcPct val="150000"/>
              </a:lnSpc>
              <a:buNone/>
            </a:pPr>
            <a:r>
              <a:rPr lang="ja-JP" altLang="en-US" sz="2400" b="1" dirty="0"/>
              <a:t>　単一時刻の値を扱うより、連続性を考慮する必要がある</a:t>
            </a:r>
            <a:endParaRPr lang="en-US" altLang="ja-JP" sz="2400" b="1" dirty="0"/>
          </a:p>
          <a:p>
            <a:pPr>
              <a:lnSpc>
                <a:spcPct val="150000"/>
              </a:lnSpc>
            </a:pPr>
            <a:r>
              <a:rPr lang="ja-JP" altLang="en-US" sz="2400" dirty="0"/>
              <a:t>訓練者数増加に伴う精度向上</a:t>
            </a:r>
            <a:endParaRPr lang="en-US" altLang="ja-JP" sz="2400" dirty="0"/>
          </a:p>
          <a:p>
            <a:pPr marL="457200" lvl="1" indent="0">
              <a:lnSpc>
                <a:spcPct val="150000"/>
              </a:lnSpc>
              <a:buNone/>
            </a:pPr>
            <a:r>
              <a:rPr lang="ja-JP" altLang="en-US" sz="2000" dirty="0"/>
              <a:t>→データごとに違う状況（通行人の数など）を学習可能</a:t>
            </a:r>
            <a:endParaRPr lang="en-US" altLang="ja-JP" sz="2000" dirty="0"/>
          </a:p>
          <a:p>
            <a:endParaRPr kumimoji="1" lang="ja-JP" altLang="en-US"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15</a:t>
            </a:fld>
            <a:endParaRPr kumimoji="1" lang="ja-JP" altLang="en-US"/>
          </a:p>
        </p:txBody>
      </p:sp>
    </p:spTree>
    <p:extLst>
      <p:ext uri="{BB962C8B-B14F-4D97-AF65-F5344CB8AC3E}">
        <p14:creationId xmlns:p14="http://schemas.microsoft.com/office/powerpoint/2010/main" val="1986837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＜追加スライド＞</a:t>
            </a:r>
            <a:endParaRPr kumimoji="1" lang="en-US" altLang="ja-JP" dirty="0"/>
          </a:p>
          <a:p>
            <a:r>
              <a:rPr kumimoji="1" lang="ja-JP" altLang="en-US" dirty="0"/>
              <a:t>クラスタリング</a:t>
            </a:r>
            <a:r>
              <a:rPr kumimoji="1" lang="en-US" altLang="ja-JP" dirty="0"/>
              <a:t>F1</a:t>
            </a:r>
            <a:r>
              <a:rPr kumimoji="1" lang="ja-JP" altLang="en-US" dirty="0"/>
              <a:t>が高い</a:t>
            </a:r>
            <a:endParaRPr kumimoji="1" lang="en-US" altLang="ja-JP" dirty="0"/>
          </a:p>
          <a:p>
            <a:r>
              <a:rPr kumimoji="1" lang="ja-JP" altLang="en-US" dirty="0"/>
              <a:t>割り当てが高い</a:t>
            </a:r>
            <a:endParaRPr kumimoji="1" lang="en-US" altLang="ja-JP" dirty="0"/>
          </a:p>
          <a:p>
            <a:r>
              <a:rPr kumimoji="1" lang="ja-JP" altLang="en-US" dirty="0"/>
              <a:t>このモデルは割り当てを優先する</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18</a:t>
            </a:fld>
            <a:endParaRPr kumimoji="1" lang="ja-JP" altLang="en-US"/>
          </a:p>
        </p:txBody>
      </p:sp>
    </p:spTree>
    <p:extLst>
      <p:ext uri="{BB962C8B-B14F-4D97-AF65-F5344CB8AC3E}">
        <p14:creationId xmlns:p14="http://schemas.microsoft.com/office/powerpoint/2010/main" val="3616576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9429E111-A6DB-42E1-9D79-761195452CAC}" type="slidenum">
              <a:rPr kumimoji="1" lang="ja-JP" altLang="en-US" smtClean="0"/>
              <a:t>22</a:t>
            </a:fld>
            <a:endParaRPr kumimoji="1" lang="ja-JP" altLang="en-US"/>
          </a:p>
        </p:txBody>
      </p:sp>
    </p:spTree>
    <p:extLst>
      <p:ext uri="{BB962C8B-B14F-4D97-AF65-F5344CB8AC3E}">
        <p14:creationId xmlns:p14="http://schemas.microsoft.com/office/powerpoint/2010/main" val="1258242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04A3818-767F-3F44-DF6D-D518DEB8606C}"/>
              </a:ext>
            </a:extLst>
          </p:cNvPr>
          <p:cNvSpPr>
            <a:spLocks noGrp="1"/>
          </p:cNvSpPr>
          <p:nvPr>
            <p:ph type="dt" sz="half" idx="10"/>
          </p:nvPr>
        </p:nvSpPr>
        <p:spPr/>
        <p:txBody>
          <a:bodyPr/>
          <a:lstStyle/>
          <a:p>
            <a:fld id="{CAAB3A9A-40EA-49D0-877B-0891D09DC1F9}" type="datetimeFigureOut">
              <a:rPr kumimoji="1" lang="ja-JP" altLang="en-US" smtClean="0"/>
              <a:t>2026/2/2</a:t>
            </a:fld>
            <a:endParaRPr kumimoji="1" lang="ja-JP" altLang="en-US"/>
          </a:p>
        </p:txBody>
      </p:sp>
      <p:sp>
        <p:nvSpPr>
          <p:cNvPr id="3" name="フッター プレースホルダー 2">
            <a:extLst>
              <a:ext uri="{FF2B5EF4-FFF2-40B4-BE49-F238E27FC236}">
                <a16:creationId xmlns:a16="http://schemas.microsoft.com/office/drawing/2014/main" id="{0BC49FD7-E950-B0CE-F96F-825106F8A5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DF01610-618C-185C-0673-39D4681F70D3}"/>
              </a:ext>
            </a:extLst>
          </p:cNvPr>
          <p:cNvSpPr>
            <a:spLocks noGrp="1"/>
          </p:cNvSpPr>
          <p:nvPr>
            <p:ph type="sldNum" sz="quarter" idx="12"/>
          </p:nvPr>
        </p:nvSpPr>
        <p:spPr/>
        <p:txBody>
          <a:bodyPr/>
          <a:lstStyle/>
          <a:p>
            <a:fld id="{0F97A4E5-7046-4BA7-8FA7-75B525F594F3}" type="slidenum">
              <a:rPr kumimoji="1" lang="ja-JP" altLang="en-US" smtClean="0"/>
              <a:t>‹#›</a:t>
            </a:fld>
            <a:endParaRPr kumimoji="1" lang="ja-JP" altLang="en-US"/>
          </a:p>
        </p:txBody>
      </p:sp>
    </p:spTree>
    <p:extLst>
      <p:ext uri="{BB962C8B-B14F-4D97-AF65-F5344CB8AC3E}">
        <p14:creationId xmlns:p14="http://schemas.microsoft.com/office/powerpoint/2010/main" val="2356052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028E1D-3ED5-3857-ED3F-72163B8F36C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A8B8B5C-9CF0-023E-EA6A-E4C737BD833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81D186-CB83-EEB2-D1FC-DE47B48A85E5}"/>
              </a:ext>
            </a:extLst>
          </p:cNvPr>
          <p:cNvSpPr>
            <a:spLocks noGrp="1"/>
          </p:cNvSpPr>
          <p:nvPr>
            <p:ph type="dt" sz="half" idx="10"/>
          </p:nvPr>
        </p:nvSpPr>
        <p:spPr/>
        <p:txBody>
          <a:bodyPr/>
          <a:lstStyle/>
          <a:p>
            <a:fld id="{CAAB3A9A-40EA-49D0-877B-0891D09DC1F9}"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135599DF-1D09-0D75-38E6-3633F7ED7A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093BB6-3209-C214-840F-8BE79E89B4C3}"/>
              </a:ext>
            </a:extLst>
          </p:cNvPr>
          <p:cNvSpPr>
            <a:spLocks noGrp="1"/>
          </p:cNvSpPr>
          <p:nvPr>
            <p:ph type="sldNum" sz="quarter" idx="12"/>
          </p:nvPr>
        </p:nvSpPr>
        <p:spPr/>
        <p:txBody>
          <a:bodyPr/>
          <a:lstStyle/>
          <a:p>
            <a:fld id="{0F97A4E5-7046-4BA7-8FA7-75B525F594F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210C0FB5-544E-53F7-76F9-E0EADC708715}"/>
              </a:ext>
            </a:extLst>
          </p:cNvPr>
          <p:cNvPicPr>
            <a:picLocks noChangeAspect="1"/>
          </p:cNvPicPr>
          <p:nvPr/>
        </p:nvPicPr>
        <p:blipFill>
          <a:blip r:embed="rId2"/>
          <a:stretch>
            <a:fillRect/>
          </a:stretch>
        </p:blipFill>
        <p:spPr>
          <a:xfrm>
            <a:off x="630135" y="1205028"/>
            <a:ext cx="10931730" cy="575353"/>
          </a:xfrm>
          <a:prstGeom prst="rect">
            <a:avLst/>
          </a:prstGeom>
        </p:spPr>
      </p:pic>
    </p:spTree>
    <p:extLst>
      <p:ext uri="{BB962C8B-B14F-4D97-AF65-F5344CB8AC3E}">
        <p14:creationId xmlns:p14="http://schemas.microsoft.com/office/powerpoint/2010/main" val="2293508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827EFF-CF11-6A49-FFAD-C641DBA292A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CD681D36-E8A1-02AF-D9E0-08BAEE66D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C72CAE-76CA-9B62-B657-27822A915FFB}"/>
              </a:ext>
            </a:extLst>
          </p:cNvPr>
          <p:cNvSpPr>
            <a:spLocks noGrp="1"/>
          </p:cNvSpPr>
          <p:nvPr>
            <p:ph type="dt" sz="half" idx="10"/>
          </p:nvPr>
        </p:nvSpPr>
        <p:spPr/>
        <p:txBody>
          <a:bodyPr/>
          <a:lstStyle/>
          <a:p>
            <a:fld id="{CAAB3A9A-40EA-49D0-877B-0891D09DC1F9}"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57EB868A-C59E-A8BE-F9D7-C5412FADB0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068D2E-9666-75A0-56E2-443D7CE296A8}"/>
              </a:ext>
            </a:extLst>
          </p:cNvPr>
          <p:cNvSpPr>
            <a:spLocks noGrp="1"/>
          </p:cNvSpPr>
          <p:nvPr>
            <p:ph type="sldNum" sz="quarter" idx="12"/>
          </p:nvPr>
        </p:nvSpPr>
        <p:spPr/>
        <p:txBody>
          <a:bodyPr/>
          <a:lstStyle/>
          <a:p>
            <a:fld id="{0F97A4E5-7046-4BA7-8FA7-75B525F594F3}" type="slidenum">
              <a:rPr kumimoji="1" lang="ja-JP" altLang="en-US" smtClean="0"/>
              <a:t>‹#›</a:t>
            </a:fld>
            <a:endParaRPr kumimoji="1" lang="ja-JP" altLang="en-US"/>
          </a:p>
        </p:txBody>
      </p:sp>
      <p:pic>
        <p:nvPicPr>
          <p:cNvPr id="10" name="図 9">
            <a:extLst>
              <a:ext uri="{FF2B5EF4-FFF2-40B4-BE49-F238E27FC236}">
                <a16:creationId xmlns:a16="http://schemas.microsoft.com/office/drawing/2014/main" id="{3F4C91D9-BE17-3463-B035-1B3BA48F226A}"/>
              </a:ext>
            </a:extLst>
          </p:cNvPr>
          <p:cNvPicPr>
            <a:picLocks noChangeAspect="1"/>
          </p:cNvPicPr>
          <p:nvPr/>
        </p:nvPicPr>
        <p:blipFill>
          <a:blip r:embed="rId2"/>
          <a:stretch>
            <a:fillRect/>
          </a:stretch>
        </p:blipFill>
        <p:spPr>
          <a:xfrm flipV="1">
            <a:off x="1524000" y="3269822"/>
            <a:ext cx="9232232" cy="485906"/>
          </a:xfrm>
          <a:prstGeom prst="rect">
            <a:avLst/>
          </a:prstGeom>
        </p:spPr>
      </p:pic>
    </p:spTree>
    <p:extLst>
      <p:ext uri="{BB962C8B-B14F-4D97-AF65-F5344CB8AC3E}">
        <p14:creationId xmlns:p14="http://schemas.microsoft.com/office/powerpoint/2010/main" val="37973509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CC43AE8-2F0B-1191-084E-11E88899FA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9356D391-F817-CCCC-BAA7-260FF0E20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9B4E41-2F82-A3CA-4769-F8032C85DE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AB3A9A-40EA-49D0-877B-0891D09DC1F9}"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1C481C52-2242-1462-0605-8114F797C0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815F4C5-3D92-91F5-C052-81FA1A5941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7A4E5-7046-4BA7-8FA7-75B525F594F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4CC185ED-2F1E-22BE-7E92-AC9F7FD44E9D}"/>
              </a:ext>
            </a:extLst>
          </p:cNvPr>
          <p:cNvPicPr>
            <a:picLocks noChangeAspect="1"/>
          </p:cNvPicPr>
          <p:nvPr/>
        </p:nvPicPr>
        <p:blipFill>
          <a:blip r:embed="rId5"/>
          <a:stretch>
            <a:fillRect/>
          </a:stretch>
        </p:blipFill>
        <p:spPr>
          <a:xfrm>
            <a:off x="9654225" y="185738"/>
            <a:ext cx="2343153" cy="607018"/>
          </a:xfrm>
          <a:prstGeom prst="rect">
            <a:avLst/>
          </a:prstGeom>
        </p:spPr>
      </p:pic>
    </p:spTree>
    <p:extLst>
      <p:ext uri="{BB962C8B-B14F-4D97-AF65-F5344CB8AC3E}">
        <p14:creationId xmlns:p14="http://schemas.microsoft.com/office/powerpoint/2010/main" val="1864637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CE25A0-96D3-F00C-E261-A22CFE65A894}"/>
              </a:ext>
            </a:extLst>
          </p:cNvPr>
          <p:cNvSpPr>
            <a:spLocks noGrp="1"/>
          </p:cNvSpPr>
          <p:nvPr>
            <p:ph type="ctrTitle"/>
          </p:nvPr>
        </p:nvSpPr>
        <p:spPr>
          <a:xfrm>
            <a:off x="713014" y="1133248"/>
            <a:ext cx="10765971" cy="2001837"/>
          </a:xfrm>
        </p:spPr>
        <p:txBody>
          <a:bodyPr>
            <a:normAutofit/>
          </a:bodyPr>
          <a:lstStyle/>
          <a:p>
            <a:r>
              <a:rPr lang="ja-JP" altLang="en-US" sz="4000" dirty="0"/>
              <a:t>独立に推定された行為と位置の統合による</a:t>
            </a:r>
            <a:br>
              <a:rPr lang="en-US" altLang="ja-JP" sz="4000" dirty="0"/>
            </a:br>
            <a:r>
              <a:rPr lang="ja-JP" altLang="en-US" sz="4000" dirty="0"/>
              <a:t>リアルタイムコンテキスト判定</a:t>
            </a:r>
            <a:endParaRPr kumimoji="1" lang="ja-JP" altLang="en-US" sz="4000" b="1" dirty="0"/>
          </a:p>
        </p:txBody>
      </p:sp>
      <p:sp>
        <p:nvSpPr>
          <p:cNvPr id="3" name="字幕 2">
            <a:extLst>
              <a:ext uri="{FF2B5EF4-FFF2-40B4-BE49-F238E27FC236}">
                <a16:creationId xmlns:a16="http://schemas.microsoft.com/office/drawing/2014/main" id="{685A824C-32E0-9661-64EE-1CBBC4A43CEA}"/>
              </a:ext>
            </a:extLst>
          </p:cNvPr>
          <p:cNvSpPr>
            <a:spLocks noGrp="1"/>
          </p:cNvSpPr>
          <p:nvPr>
            <p:ph type="subTitle" idx="1"/>
          </p:nvPr>
        </p:nvSpPr>
        <p:spPr>
          <a:xfrm>
            <a:off x="1524000" y="3602038"/>
            <a:ext cx="9144000" cy="1122362"/>
          </a:xfrm>
        </p:spPr>
        <p:txBody>
          <a:bodyPr>
            <a:normAutofit/>
          </a:bodyPr>
          <a:lstStyle/>
          <a:p>
            <a:r>
              <a:rPr kumimoji="1" lang="ja-JP" altLang="en-US" sz="2800" dirty="0"/>
              <a:t>立命館大学　データ工学研究室</a:t>
            </a:r>
            <a:endParaRPr kumimoji="1" lang="en-US" altLang="ja-JP" sz="2800" dirty="0"/>
          </a:p>
          <a:p>
            <a:r>
              <a:rPr lang="en-US" altLang="ja-JP" sz="2800" dirty="0"/>
              <a:t>B4</a:t>
            </a:r>
            <a:r>
              <a:rPr lang="ja-JP" altLang="en-US" sz="2800" dirty="0"/>
              <a:t>　佐藤博正</a:t>
            </a:r>
            <a:endParaRPr kumimoji="1" lang="ja-JP" altLang="en-US" sz="2800" dirty="0"/>
          </a:p>
        </p:txBody>
      </p:sp>
    </p:spTree>
    <p:extLst>
      <p:ext uri="{BB962C8B-B14F-4D97-AF65-F5344CB8AC3E}">
        <p14:creationId xmlns:p14="http://schemas.microsoft.com/office/powerpoint/2010/main" val="1692603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73A26F-CD25-E820-DFCD-C66F4E870275}"/>
              </a:ext>
            </a:extLst>
          </p:cNvPr>
          <p:cNvSpPr>
            <a:spLocks noGrp="1"/>
          </p:cNvSpPr>
          <p:nvPr>
            <p:ph type="title"/>
          </p:nvPr>
        </p:nvSpPr>
        <p:spPr/>
        <p:txBody>
          <a:bodyPr>
            <a:normAutofit/>
          </a:bodyPr>
          <a:lstStyle/>
          <a:p>
            <a:r>
              <a:rPr kumimoji="1" lang="ja-JP" altLang="en-US" sz="4000" dirty="0"/>
              <a:t>背景</a:t>
            </a:r>
          </a:p>
        </p:txBody>
      </p:sp>
      <p:sp>
        <p:nvSpPr>
          <p:cNvPr id="4" name="コンテンツ プレースホルダー 2">
            <a:extLst>
              <a:ext uri="{FF2B5EF4-FFF2-40B4-BE49-F238E27FC236}">
                <a16:creationId xmlns:a16="http://schemas.microsoft.com/office/drawing/2014/main" id="{57307614-5859-AE81-C3CF-6F3B23045C10}"/>
              </a:ext>
            </a:extLst>
          </p:cNvPr>
          <p:cNvSpPr>
            <a:spLocks noGrp="1"/>
          </p:cNvSpPr>
          <p:nvPr>
            <p:ph idx="1"/>
          </p:nvPr>
        </p:nvSpPr>
        <p:spPr>
          <a:xfrm>
            <a:off x="838200" y="1941816"/>
            <a:ext cx="10515600" cy="4681721"/>
          </a:xfrm>
        </p:spPr>
        <p:txBody>
          <a:bodyPr>
            <a:normAutofit/>
          </a:bodyPr>
          <a:lstStyle/>
          <a:p>
            <a:pPr marL="0" indent="0">
              <a:buNone/>
            </a:pPr>
            <a:r>
              <a:rPr lang="ja-JP" altLang="en-US" dirty="0"/>
              <a:t>作業者の安全確保や状態管理が困難</a:t>
            </a:r>
            <a:endParaRPr lang="en-US" altLang="ja-JP" dirty="0"/>
          </a:p>
          <a:p>
            <a:pPr marL="0" indent="0">
              <a:lnSpc>
                <a:spcPct val="100000"/>
              </a:lnSpc>
              <a:buNone/>
            </a:pPr>
            <a:r>
              <a:rPr lang="ja-JP" altLang="en-US" dirty="0"/>
              <a:t>　→　センサを用いた状態把握（コンテキスト）が必要</a:t>
            </a:r>
            <a:endParaRPr lang="en-US" altLang="ja-JP" sz="2400" b="1" dirty="0"/>
          </a:p>
          <a:p>
            <a:pPr marL="0" indent="0">
              <a:lnSpc>
                <a:spcPct val="150000"/>
              </a:lnSpc>
              <a:buNone/>
            </a:pPr>
            <a:r>
              <a:rPr lang="ja-JP" altLang="en-US" b="1" dirty="0"/>
              <a:t>　</a:t>
            </a:r>
            <a:r>
              <a:rPr lang="ja-JP" altLang="en-US" b="1" dirty="0">
                <a:solidFill>
                  <a:srgbClr val="FF0000"/>
                </a:solidFill>
              </a:rPr>
              <a:t>コンテキスト　＝　行為情報　＋　位置情報</a:t>
            </a:r>
            <a:endParaRPr lang="en-US" altLang="ja-JP" b="1" dirty="0">
              <a:solidFill>
                <a:srgbClr val="FF0000"/>
              </a:solidFill>
            </a:endParaRPr>
          </a:p>
          <a:p>
            <a:pPr marL="0" indent="0">
              <a:lnSpc>
                <a:spcPct val="100000"/>
              </a:lnSpc>
              <a:buNone/>
            </a:pPr>
            <a:r>
              <a:rPr lang="ja-JP" altLang="en-US" b="1" dirty="0"/>
              <a:t>目的</a:t>
            </a:r>
            <a:endParaRPr lang="en-US" altLang="ja-JP" b="1" dirty="0"/>
          </a:p>
          <a:p>
            <a:pPr marL="914400" lvl="1" indent="-457200">
              <a:lnSpc>
                <a:spcPct val="100000"/>
              </a:lnSpc>
              <a:buFont typeface="+mj-lt"/>
              <a:buAutoNum type="arabicPeriod"/>
            </a:pPr>
            <a:r>
              <a:rPr lang="ja-JP" altLang="en-US" dirty="0"/>
              <a:t>自動ラベリング：教師なしクラスタリングでラベル付けを自動化</a:t>
            </a:r>
            <a:endParaRPr lang="en-US" altLang="ja-JP" dirty="0"/>
          </a:p>
          <a:p>
            <a:pPr marL="914400" lvl="1" indent="-457200">
              <a:lnSpc>
                <a:spcPct val="100000"/>
              </a:lnSpc>
              <a:buFont typeface="+mj-lt"/>
              <a:buAutoNum type="arabicPeriod"/>
            </a:pPr>
            <a:r>
              <a:rPr lang="ja-JP" altLang="en-US" dirty="0"/>
              <a:t>リアルタイム推定：行為および位置を独立にリアルタイム推定</a:t>
            </a:r>
            <a:endParaRPr lang="en-US" altLang="ja-JP" dirty="0"/>
          </a:p>
          <a:p>
            <a:pPr marL="914400" lvl="1" indent="-457200">
              <a:lnSpc>
                <a:spcPct val="100000"/>
              </a:lnSpc>
              <a:buFont typeface="+mj-lt"/>
              <a:buAutoNum type="arabicPeriod"/>
            </a:pPr>
            <a:r>
              <a:rPr lang="ja-JP" altLang="en-US" dirty="0"/>
              <a:t>コンテキスト判定：行為と位置の統合判定</a:t>
            </a:r>
            <a:endParaRPr lang="en-US" altLang="ja-JP" dirty="0"/>
          </a:p>
          <a:p>
            <a:pPr marL="914400" lvl="1" indent="-457200">
              <a:lnSpc>
                <a:spcPct val="100000"/>
              </a:lnSpc>
              <a:buFont typeface="+mj-lt"/>
              <a:buAutoNum type="arabicPeriod"/>
            </a:pPr>
            <a:endParaRPr lang="en-US" altLang="ja-JP" dirty="0"/>
          </a:p>
          <a:p>
            <a:pPr marL="457200" lvl="1" indent="0">
              <a:lnSpc>
                <a:spcPct val="100000"/>
              </a:lnSpc>
              <a:buNone/>
            </a:pPr>
            <a:r>
              <a:rPr lang="ja-JP" altLang="en-US" sz="2800" dirty="0"/>
              <a:t>実環境での使用を想定したコンテキスト判定手法の提案</a:t>
            </a:r>
            <a:endParaRPr lang="en-US" altLang="ja-JP" sz="2800" dirty="0"/>
          </a:p>
          <a:p>
            <a:pPr>
              <a:lnSpc>
                <a:spcPct val="120000"/>
              </a:lnSpc>
            </a:pPr>
            <a:endParaRPr lang="ja-JP" altLang="en-US" sz="2000" dirty="0"/>
          </a:p>
          <a:p>
            <a:pPr marL="0" indent="0">
              <a:lnSpc>
                <a:spcPct val="120000"/>
              </a:lnSpc>
              <a:buNone/>
            </a:pPr>
            <a:endParaRPr kumimoji="1" lang="ja-JP" altLang="en-US" dirty="0"/>
          </a:p>
        </p:txBody>
      </p:sp>
      <p:sp>
        <p:nvSpPr>
          <p:cNvPr id="5" name="四角形: 角を丸くする 4">
            <a:extLst>
              <a:ext uri="{FF2B5EF4-FFF2-40B4-BE49-F238E27FC236}">
                <a16:creationId xmlns:a16="http://schemas.microsoft.com/office/drawing/2014/main" id="{A06F5946-4EB1-B7E6-5098-16CCC3353328}"/>
              </a:ext>
            </a:extLst>
          </p:cNvPr>
          <p:cNvSpPr/>
          <p:nvPr/>
        </p:nvSpPr>
        <p:spPr>
          <a:xfrm>
            <a:off x="1049263" y="3051991"/>
            <a:ext cx="7756989" cy="71148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0130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3B5510-54A8-09D2-394E-FAE79D8EC45F}"/>
              </a:ext>
            </a:extLst>
          </p:cNvPr>
          <p:cNvSpPr>
            <a:spLocks noGrp="1"/>
          </p:cNvSpPr>
          <p:nvPr>
            <p:ph type="title"/>
          </p:nvPr>
        </p:nvSpPr>
        <p:spPr/>
        <p:txBody>
          <a:bodyPr>
            <a:normAutofit/>
          </a:bodyPr>
          <a:lstStyle/>
          <a:p>
            <a:r>
              <a:rPr kumimoji="1" lang="ja-JP" altLang="en-US" sz="4000" dirty="0"/>
              <a:t>提案手法</a:t>
            </a:r>
          </a:p>
        </p:txBody>
      </p:sp>
      <p:sp>
        <p:nvSpPr>
          <p:cNvPr id="3" name="コンテンツ プレースホルダー 2">
            <a:extLst>
              <a:ext uri="{FF2B5EF4-FFF2-40B4-BE49-F238E27FC236}">
                <a16:creationId xmlns:a16="http://schemas.microsoft.com/office/drawing/2014/main" id="{DB30502A-9840-5F07-4EE5-B31E949B647E}"/>
              </a:ext>
            </a:extLst>
          </p:cNvPr>
          <p:cNvSpPr>
            <a:spLocks noGrp="1"/>
          </p:cNvSpPr>
          <p:nvPr>
            <p:ph idx="1"/>
          </p:nvPr>
        </p:nvSpPr>
        <p:spPr>
          <a:xfrm>
            <a:off x="838200" y="1623281"/>
            <a:ext cx="10515600" cy="519112"/>
          </a:xfrm>
        </p:spPr>
        <p:txBody>
          <a:bodyPr>
            <a:normAutofit/>
          </a:bodyPr>
          <a:lstStyle/>
          <a:p>
            <a:pPr marL="0" indent="0">
              <a:lnSpc>
                <a:spcPct val="100000"/>
              </a:lnSpc>
              <a:buNone/>
            </a:pPr>
            <a:r>
              <a:rPr lang="en-US" altLang="ja-JP" sz="2400" b="1" dirty="0"/>
              <a:t>2</a:t>
            </a:r>
            <a:r>
              <a:rPr lang="ja-JP" altLang="en-US" sz="2400" b="1" dirty="0"/>
              <a:t>段階の統合判定</a:t>
            </a:r>
            <a:endParaRPr lang="en-US" altLang="ja-JP" sz="2400" b="1" dirty="0"/>
          </a:p>
        </p:txBody>
      </p:sp>
      <p:pic>
        <p:nvPicPr>
          <p:cNvPr id="5" name="図 4">
            <a:extLst>
              <a:ext uri="{FF2B5EF4-FFF2-40B4-BE49-F238E27FC236}">
                <a16:creationId xmlns:a16="http://schemas.microsoft.com/office/drawing/2014/main" id="{3D7DFF02-1C84-7384-903E-348099227775}"/>
              </a:ext>
            </a:extLst>
          </p:cNvPr>
          <p:cNvPicPr>
            <a:picLocks noChangeAspect="1"/>
          </p:cNvPicPr>
          <p:nvPr/>
        </p:nvPicPr>
        <p:blipFill>
          <a:blip r:embed="rId3"/>
          <a:stretch>
            <a:fillRect/>
          </a:stretch>
        </p:blipFill>
        <p:spPr>
          <a:xfrm>
            <a:off x="1773622" y="1995325"/>
            <a:ext cx="8644756" cy="4862675"/>
          </a:xfrm>
          <a:prstGeom prst="rect">
            <a:avLst/>
          </a:prstGeom>
        </p:spPr>
      </p:pic>
    </p:spTree>
    <p:extLst>
      <p:ext uri="{BB962C8B-B14F-4D97-AF65-F5344CB8AC3E}">
        <p14:creationId xmlns:p14="http://schemas.microsoft.com/office/powerpoint/2010/main" val="88884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E55598F5-9215-1EA8-4439-7590EA6C6F8D}"/>
              </a:ext>
            </a:extLst>
          </p:cNvPr>
          <p:cNvPicPr>
            <a:picLocks noChangeAspect="1"/>
          </p:cNvPicPr>
          <p:nvPr/>
        </p:nvPicPr>
        <p:blipFill>
          <a:blip r:embed="rId3"/>
          <a:stretch>
            <a:fillRect/>
          </a:stretch>
        </p:blipFill>
        <p:spPr>
          <a:xfrm>
            <a:off x="2136168" y="1610566"/>
            <a:ext cx="8697723" cy="4892469"/>
          </a:xfrm>
          <a:prstGeom prst="rect">
            <a:avLst/>
          </a:prstGeom>
        </p:spPr>
      </p:pic>
      <p:sp>
        <p:nvSpPr>
          <p:cNvPr id="2" name="タイトル 1">
            <a:extLst>
              <a:ext uri="{FF2B5EF4-FFF2-40B4-BE49-F238E27FC236}">
                <a16:creationId xmlns:a16="http://schemas.microsoft.com/office/drawing/2014/main" id="{6C986537-53D3-3EE8-A22E-9D5F2D3B08DF}"/>
              </a:ext>
            </a:extLst>
          </p:cNvPr>
          <p:cNvSpPr>
            <a:spLocks noGrp="1"/>
          </p:cNvSpPr>
          <p:nvPr>
            <p:ph type="title"/>
          </p:nvPr>
        </p:nvSpPr>
        <p:spPr/>
        <p:txBody>
          <a:bodyPr>
            <a:normAutofit/>
          </a:bodyPr>
          <a:lstStyle/>
          <a:p>
            <a:r>
              <a:rPr kumimoji="1" lang="ja-JP" altLang="en-US" sz="4000" dirty="0"/>
              <a:t>提案手法（</a:t>
            </a:r>
            <a:r>
              <a:rPr lang="ja-JP" altLang="en-US" sz="4000" dirty="0"/>
              <a:t>行為推定</a:t>
            </a:r>
            <a:r>
              <a:rPr kumimoji="1" lang="ja-JP" altLang="en-US" sz="4000" dirty="0"/>
              <a:t>）</a:t>
            </a:r>
          </a:p>
        </p:txBody>
      </p:sp>
      <p:sp>
        <p:nvSpPr>
          <p:cNvPr id="9" name="楕円 8">
            <a:extLst>
              <a:ext uri="{FF2B5EF4-FFF2-40B4-BE49-F238E27FC236}">
                <a16:creationId xmlns:a16="http://schemas.microsoft.com/office/drawing/2014/main" id="{7EB5D5FE-0D26-3B3D-24C4-7C91174FD9B3}"/>
              </a:ext>
            </a:extLst>
          </p:cNvPr>
          <p:cNvSpPr/>
          <p:nvPr/>
        </p:nvSpPr>
        <p:spPr>
          <a:xfrm>
            <a:off x="9090430" y="2002886"/>
            <a:ext cx="2866178" cy="1143437"/>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ln>
                  <a:solidFill>
                    <a:schemeClr val="tx1"/>
                  </a:solidFill>
                </a:ln>
                <a:solidFill>
                  <a:schemeClr val="tx1"/>
                </a:solidFill>
              </a:rPr>
              <a:t>行為のリアルタイム推定</a:t>
            </a:r>
          </a:p>
        </p:txBody>
      </p:sp>
      <p:sp>
        <p:nvSpPr>
          <p:cNvPr id="10" name="楕円 9">
            <a:extLst>
              <a:ext uri="{FF2B5EF4-FFF2-40B4-BE49-F238E27FC236}">
                <a16:creationId xmlns:a16="http://schemas.microsoft.com/office/drawing/2014/main" id="{D66B7F96-01C8-2385-1F45-3B073FB4C517}"/>
              </a:ext>
            </a:extLst>
          </p:cNvPr>
          <p:cNvSpPr/>
          <p:nvPr/>
        </p:nvSpPr>
        <p:spPr>
          <a:xfrm>
            <a:off x="191786" y="2251516"/>
            <a:ext cx="2590797" cy="976844"/>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n>
                  <a:solidFill>
                    <a:schemeClr val="tx1"/>
                  </a:solidFill>
                </a:ln>
                <a:solidFill>
                  <a:schemeClr val="tx1"/>
                </a:solidFill>
              </a:rPr>
              <a:t>疑似ラベルの作成</a:t>
            </a:r>
          </a:p>
        </p:txBody>
      </p:sp>
      <p:sp>
        <p:nvSpPr>
          <p:cNvPr id="12" name="楕円 11">
            <a:extLst>
              <a:ext uri="{FF2B5EF4-FFF2-40B4-BE49-F238E27FC236}">
                <a16:creationId xmlns:a16="http://schemas.microsoft.com/office/drawing/2014/main" id="{568755F8-E4F7-CDC3-FFD8-F8A45EE08780}"/>
              </a:ext>
            </a:extLst>
          </p:cNvPr>
          <p:cNvSpPr/>
          <p:nvPr/>
        </p:nvSpPr>
        <p:spPr>
          <a:xfrm>
            <a:off x="191785" y="5373359"/>
            <a:ext cx="2590797" cy="976844"/>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n>
                  <a:solidFill>
                    <a:schemeClr val="tx1"/>
                  </a:solidFill>
                </a:ln>
                <a:solidFill>
                  <a:schemeClr val="tx1"/>
                </a:solidFill>
              </a:rPr>
              <a:t>疑似ラベルデータの拡張</a:t>
            </a:r>
          </a:p>
        </p:txBody>
      </p:sp>
    </p:spTree>
    <p:extLst>
      <p:ext uri="{BB962C8B-B14F-4D97-AF65-F5344CB8AC3E}">
        <p14:creationId xmlns:p14="http://schemas.microsoft.com/office/powerpoint/2010/main" val="188303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D59363D8-9123-76CE-B909-75CD3764B6B0}"/>
              </a:ext>
            </a:extLst>
          </p:cNvPr>
          <p:cNvPicPr>
            <a:picLocks noChangeAspect="1"/>
          </p:cNvPicPr>
          <p:nvPr/>
        </p:nvPicPr>
        <p:blipFill>
          <a:blip r:embed="rId3"/>
          <a:srcRect t="14998" b="16578"/>
          <a:stretch>
            <a:fillRect/>
          </a:stretch>
        </p:blipFill>
        <p:spPr>
          <a:xfrm>
            <a:off x="981959" y="2682240"/>
            <a:ext cx="10228082" cy="3835198"/>
          </a:xfrm>
          <a:prstGeom prst="rect">
            <a:avLst/>
          </a:prstGeom>
        </p:spPr>
      </p:pic>
      <p:sp>
        <p:nvSpPr>
          <p:cNvPr id="2" name="タイトル 1">
            <a:extLst>
              <a:ext uri="{FF2B5EF4-FFF2-40B4-BE49-F238E27FC236}">
                <a16:creationId xmlns:a16="http://schemas.microsoft.com/office/drawing/2014/main" id="{400D513C-0A5C-3141-4E55-96835B13ABD6}"/>
              </a:ext>
            </a:extLst>
          </p:cNvPr>
          <p:cNvSpPr>
            <a:spLocks noGrp="1"/>
          </p:cNvSpPr>
          <p:nvPr>
            <p:ph type="title"/>
          </p:nvPr>
        </p:nvSpPr>
        <p:spPr>
          <a:xfrm>
            <a:off x="851848" y="365125"/>
            <a:ext cx="10515600" cy="1325563"/>
          </a:xfrm>
        </p:spPr>
        <p:txBody>
          <a:bodyPr>
            <a:normAutofit/>
          </a:bodyPr>
          <a:lstStyle/>
          <a:p>
            <a:r>
              <a:rPr kumimoji="1" lang="ja-JP" altLang="en-US" sz="4000" dirty="0"/>
              <a:t>提案手法（位置推定）</a:t>
            </a:r>
          </a:p>
        </p:txBody>
      </p:sp>
      <p:sp>
        <p:nvSpPr>
          <p:cNvPr id="5" name="楕円 4">
            <a:extLst>
              <a:ext uri="{FF2B5EF4-FFF2-40B4-BE49-F238E27FC236}">
                <a16:creationId xmlns:a16="http://schemas.microsoft.com/office/drawing/2014/main" id="{37869823-B1BB-FF5E-A9B9-B34B9E30201C}"/>
              </a:ext>
            </a:extLst>
          </p:cNvPr>
          <p:cNvSpPr/>
          <p:nvPr/>
        </p:nvSpPr>
        <p:spPr>
          <a:xfrm>
            <a:off x="6444062" y="1700848"/>
            <a:ext cx="3949618" cy="981392"/>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ln>
                  <a:solidFill>
                    <a:schemeClr val="tx1"/>
                  </a:solidFill>
                </a:ln>
                <a:solidFill>
                  <a:schemeClr val="tx1"/>
                </a:solidFill>
              </a:rPr>
              <a:t>連続性を考慮した位置の平滑化</a:t>
            </a:r>
          </a:p>
        </p:txBody>
      </p:sp>
      <p:sp>
        <p:nvSpPr>
          <p:cNvPr id="6" name="テキスト ボックス 5">
            <a:extLst>
              <a:ext uri="{FF2B5EF4-FFF2-40B4-BE49-F238E27FC236}">
                <a16:creationId xmlns:a16="http://schemas.microsoft.com/office/drawing/2014/main" id="{858EE4DD-2FDD-DD8C-4F8B-21D74FA7BF12}"/>
              </a:ext>
            </a:extLst>
          </p:cNvPr>
          <p:cNvSpPr txBox="1"/>
          <p:nvPr/>
        </p:nvSpPr>
        <p:spPr>
          <a:xfrm>
            <a:off x="7508515" y="5661878"/>
            <a:ext cx="3845285" cy="830997"/>
          </a:xfrm>
          <a:prstGeom prst="rect">
            <a:avLst/>
          </a:prstGeom>
          <a:noFill/>
        </p:spPr>
        <p:txBody>
          <a:bodyPr wrap="square" rtlCol="0">
            <a:spAutoFit/>
          </a:bodyPr>
          <a:lstStyle/>
          <a:p>
            <a:r>
              <a:rPr kumimoji="1" lang="ja-JP" altLang="en-US" sz="2400" dirty="0"/>
              <a:t>複数ユーザ間比較を前提</a:t>
            </a:r>
            <a:endParaRPr kumimoji="1" lang="en-US" altLang="ja-JP" sz="2400" dirty="0"/>
          </a:p>
          <a:p>
            <a:r>
              <a:rPr kumimoji="1" lang="ja-JP" altLang="en-US" sz="2400" dirty="0"/>
              <a:t>サーバ側で処理</a:t>
            </a:r>
          </a:p>
        </p:txBody>
      </p:sp>
    </p:spTree>
    <p:extLst>
      <p:ext uri="{BB962C8B-B14F-4D97-AF65-F5344CB8AC3E}">
        <p14:creationId xmlns:p14="http://schemas.microsoft.com/office/powerpoint/2010/main" val="929914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4EF7BF-4F9E-E688-F6A6-6DDD431361B4}"/>
              </a:ext>
            </a:extLst>
          </p:cNvPr>
          <p:cNvSpPr>
            <a:spLocks noGrp="1"/>
          </p:cNvSpPr>
          <p:nvPr>
            <p:ph type="title"/>
          </p:nvPr>
        </p:nvSpPr>
        <p:spPr/>
        <p:txBody>
          <a:bodyPr>
            <a:normAutofit/>
          </a:bodyPr>
          <a:lstStyle/>
          <a:p>
            <a:r>
              <a:rPr lang="ja-JP" altLang="en-US" sz="4000" dirty="0"/>
              <a:t>実験</a:t>
            </a:r>
            <a:endParaRPr kumimoji="1" lang="ja-JP" altLang="en-US" sz="4000" dirty="0"/>
          </a:p>
        </p:txBody>
      </p:sp>
      <p:sp>
        <p:nvSpPr>
          <p:cNvPr id="4" name="コンテンツ プレースホルダー 2">
            <a:extLst>
              <a:ext uri="{FF2B5EF4-FFF2-40B4-BE49-F238E27FC236}">
                <a16:creationId xmlns:a16="http://schemas.microsoft.com/office/drawing/2014/main" id="{C36AAE8E-F177-0DCB-6836-21625BA5E6A0}"/>
              </a:ext>
            </a:extLst>
          </p:cNvPr>
          <p:cNvSpPr>
            <a:spLocks noGrp="1"/>
          </p:cNvSpPr>
          <p:nvPr>
            <p:ph idx="1"/>
          </p:nvPr>
        </p:nvSpPr>
        <p:spPr>
          <a:xfrm>
            <a:off x="957579" y="1916112"/>
            <a:ext cx="9987280" cy="4351338"/>
          </a:xfrm>
        </p:spPr>
        <p:txBody>
          <a:bodyPr>
            <a:normAutofit/>
          </a:bodyPr>
          <a:lstStyle/>
          <a:p>
            <a:pPr marL="0" indent="0">
              <a:lnSpc>
                <a:spcPct val="100000"/>
              </a:lnSpc>
              <a:buNone/>
            </a:pPr>
            <a:r>
              <a:rPr lang="ja-JP" altLang="en-US" sz="2000" dirty="0"/>
              <a:t>参加者：</a:t>
            </a:r>
            <a:r>
              <a:rPr lang="en-US" altLang="ja-JP" sz="2000" dirty="0"/>
              <a:t>13</a:t>
            </a:r>
            <a:r>
              <a:rPr lang="ja-JP" altLang="en-US" sz="2000" dirty="0"/>
              <a:t>名</a:t>
            </a:r>
            <a:endParaRPr lang="en-US" altLang="ja-JP" sz="2000" dirty="0"/>
          </a:p>
          <a:p>
            <a:pPr marL="0" indent="0">
              <a:lnSpc>
                <a:spcPct val="100000"/>
              </a:lnSpc>
              <a:buNone/>
            </a:pPr>
            <a:r>
              <a:rPr kumimoji="1" lang="ja-JP" altLang="en-US" sz="2000" dirty="0"/>
              <a:t>行動：</a:t>
            </a:r>
            <a:r>
              <a:rPr lang="ja-JP" altLang="en-US" sz="2000" b="1" dirty="0"/>
              <a:t>台車を押す</a:t>
            </a:r>
            <a:r>
              <a:rPr lang="ja-JP" altLang="en-US" sz="2000" dirty="0"/>
              <a:t>、</a:t>
            </a:r>
            <a:r>
              <a:rPr lang="ja-JP" altLang="en-US" sz="2000" b="1" dirty="0"/>
              <a:t>荷物の移動</a:t>
            </a:r>
            <a:endParaRPr lang="en-US" altLang="ja-JP" sz="2000" b="1" dirty="0"/>
          </a:p>
          <a:p>
            <a:pPr marL="0" indent="0">
              <a:lnSpc>
                <a:spcPct val="100000"/>
              </a:lnSpc>
              <a:buNone/>
            </a:pPr>
            <a:r>
              <a:rPr kumimoji="1" lang="ja-JP" altLang="en-US" sz="2000" dirty="0"/>
              <a:t>センサ：</a:t>
            </a:r>
            <a:r>
              <a:rPr lang="ja-JP" altLang="en-US" sz="2000" dirty="0"/>
              <a:t>首に装着した加速度センサ</a:t>
            </a:r>
            <a:endParaRPr lang="en-US" altLang="ja-JP" sz="2000" dirty="0"/>
          </a:p>
          <a:p>
            <a:pPr marL="0" indent="0">
              <a:lnSpc>
                <a:spcPct val="100000"/>
              </a:lnSpc>
              <a:buNone/>
            </a:pPr>
            <a:r>
              <a:rPr lang="ja-JP" altLang="en-US" sz="2000" dirty="0"/>
              <a:t>　　　　位置情報（</a:t>
            </a:r>
            <a:r>
              <a:rPr lang="en-US" altLang="ja-JP" sz="2000" dirty="0"/>
              <a:t>beacon</a:t>
            </a:r>
            <a:r>
              <a:rPr lang="ja-JP" altLang="en-US" sz="2000" dirty="0"/>
              <a:t>）</a:t>
            </a:r>
            <a:endParaRPr lang="en-US" altLang="ja-JP" sz="2000" dirty="0"/>
          </a:p>
          <a:p>
            <a:pPr marL="0" indent="0">
              <a:lnSpc>
                <a:spcPct val="100000"/>
              </a:lnSpc>
              <a:buNone/>
            </a:pPr>
            <a:r>
              <a:rPr kumimoji="1" lang="ja-JP" altLang="en-US" sz="2000" dirty="0"/>
              <a:t>データ：</a:t>
            </a:r>
            <a:r>
              <a:rPr lang="en-US" altLang="ja-JP" sz="2000" dirty="0"/>
              <a:t>3</a:t>
            </a:r>
            <a:r>
              <a:rPr lang="ja-JP" altLang="en-US" sz="2000" dirty="0"/>
              <a:t>軸加速度（</a:t>
            </a:r>
            <a:r>
              <a:rPr lang="en-US" altLang="ja-JP" sz="2000" dirty="0"/>
              <a:t>x, y, z</a:t>
            </a:r>
            <a:r>
              <a:rPr lang="ja-JP" altLang="en-US" sz="2000" dirty="0"/>
              <a:t>）、</a:t>
            </a:r>
            <a:r>
              <a:rPr lang="en-US" altLang="ja-JP" sz="2000" dirty="0"/>
              <a:t>LQI</a:t>
            </a:r>
            <a:r>
              <a:rPr lang="ja-JP" altLang="en-US" sz="2000" dirty="0"/>
              <a:t>（</a:t>
            </a:r>
            <a:r>
              <a:rPr lang="en-US" altLang="ja-JP" sz="2000" dirty="0"/>
              <a:t>4</a:t>
            </a:r>
            <a:r>
              <a:rPr lang="ja-JP" altLang="en-US" sz="2000" dirty="0"/>
              <a:t>点）</a:t>
            </a:r>
            <a:endParaRPr lang="en-US" altLang="ja-JP" sz="2000" dirty="0"/>
          </a:p>
          <a:p>
            <a:pPr marL="0" indent="0">
              <a:lnSpc>
                <a:spcPct val="100000"/>
              </a:lnSpc>
              <a:buNone/>
            </a:pPr>
            <a:r>
              <a:rPr kumimoji="1" lang="ja-JP" altLang="en-US" sz="2000" dirty="0"/>
              <a:t>実験環境：廊下</a:t>
            </a:r>
            <a:endParaRPr kumimoji="1" lang="en-US" altLang="ja-JP" sz="2000" dirty="0"/>
          </a:p>
        </p:txBody>
      </p:sp>
      <p:pic>
        <p:nvPicPr>
          <p:cNvPr id="3" name="図 2">
            <a:extLst>
              <a:ext uri="{FF2B5EF4-FFF2-40B4-BE49-F238E27FC236}">
                <a16:creationId xmlns:a16="http://schemas.microsoft.com/office/drawing/2014/main" id="{C32AD0BC-9B9E-6AD6-696D-AED70065A120}"/>
              </a:ext>
            </a:extLst>
          </p:cNvPr>
          <p:cNvPicPr>
            <a:picLocks noChangeAspect="1"/>
          </p:cNvPicPr>
          <p:nvPr/>
        </p:nvPicPr>
        <p:blipFill>
          <a:blip r:embed="rId3"/>
          <a:stretch>
            <a:fillRect/>
          </a:stretch>
        </p:blipFill>
        <p:spPr>
          <a:xfrm>
            <a:off x="177799" y="4791343"/>
            <a:ext cx="5821680" cy="1931720"/>
          </a:xfrm>
          <a:prstGeom prst="rect">
            <a:avLst/>
          </a:prstGeom>
        </p:spPr>
      </p:pic>
      <p:pic>
        <p:nvPicPr>
          <p:cNvPr id="8" name="図 7">
            <a:extLst>
              <a:ext uri="{FF2B5EF4-FFF2-40B4-BE49-F238E27FC236}">
                <a16:creationId xmlns:a16="http://schemas.microsoft.com/office/drawing/2014/main" id="{B8AF0556-A13C-302B-627D-AE06C5B75C93}"/>
              </a:ext>
            </a:extLst>
          </p:cNvPr>
          <p:cNvPicPr>
            <a:picLocks noChangeAspect="1"/>
          </p:cNvPicPr>
          <p:nvPr/>
        </p:nvPicPr>
        <p:blipFill>
          <a:blip r:embed="rId4"/>
          <a:stretch>
            <a:fillRect/>
          </a:stretch>
        </p:blipFill>
        <p:spPr>
          <a:xfrm>
            <a:off x="6095999" y="4791343"/>
            <a:ext cx="5821681" cy="1840368"/>
          </a:xfrm>
          <a:prstGeom prst="rect">
            <a:avLst/>
          </a:prstGeom>
        </p:spPr>
      </p:pic>
      <p:pic>
        <p:nvPicPr>
          <p:cNvPr id="9" name="図 8">
            <a:extLst>
              <a:ext uri="{FF2B5EF4-FFF2-40B4-BE49-F238E27FC236}">
                <a16:creationId xmlns:a16="http://schemas.microsoft.com/office/drawing/2014/main" id="{6048989C-A4AD-A40C-5B0D-7663E9AA15B1}"/>
              </a:ext>
            </a:extLst>
          </p:cNvPr>
          <p:cNvPicPr>
            <a:picLocks noChangeAspect="1"/>
          </p:cNvPicPr>
          <p:nvPr/>
        </p:nvPicPr>
        <p:blipFill>
          <a:blip r:embed="rId5"/>
          <a:srcRect t="-83" b="23260"/>
          <a:stretch>
            <a:fillRect/>
          </a:stretch>
        </p:blipFill>
        <p:spPr>
          <a:xfrm>
            <a:off x="6095999" y="2766218"/>
            <a:ext cx="5845541" cy="1325563"/>
          </a:xfrm>
          <a:prstGeom prst="rect">
            <a:avLst/>
          </a:prstGeom>
        </p:spPr>
      </p:pic>
    </p:spTree>
    <p:extLst>
      <p:ext uri="{BB962C8B-B14F-4D97-AF65-F5344CB8AC3E}">
        <p14:creationId xmlns:p14="http://schemas.microsoft.com/office/powerpoint/2010/main" val="1211945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590637-23D7-39D0-AE50-DFFF14D371C0}"/>
              </a:ext>
            </a:extLst>
          </p:cNvPr>
          <p:cNvSpPr>
            <a:spLocks noGrp="1"/>
          </p:cNvSpPr>
          <p:nvPr>
            <p:ph type="title"/>
          </p:nvPr>
        </p:nvSpPr>
        <p:spPr/>
        <p:txBody>
          <a:bodyPr>
            <a:normAutofit/>
          </a:bodyPr>
          <a:lstStyle/>
          <a:p>
            <a:r>
              <a:rPr kumimoji="1" lang="ja-JP" altLang="en-US" sz="4000" dirty="0"/>
              <a:t>クラスタリング結果</a:t>
            </a:r>
          </a:p>
        </p:txBody>
      </p:sp>
      <p:sp>
        <p:nvSpPr>
          <p:cNvPr id="3" name="コンテンツ プレースホルダー 2">
            <a:extLst>
              <a:ext uri="{FF2B5EF4-FFF2-40B4-BE49-F238E27FC236}">
                <a16:creationId xmlns:a16="http://schemas.microsoft.com/office/drawing/2014/main" id="{5CB40838-8BEA-CD67-7D86-1F6F7CD67B8D}"/>
              </a:ext>
            </a:extLst>
          </p:cNvPr>
          <p:cNvSpPr>
            <a:spLocks noGrp="1"/>
          </p:cNvSpPr>
          <p:nvPr>
            <p:ph idx="1"/>
          </p:nvPr>
        </p:nvSpPr>
        <p:spPr>
          <a:xfrm>
            <a:off x="838200" y="1825625"/>
            <a:ext cx="10515600" cy="4351338"/>
          </a:xfrm>
        </p:spPr>
        <p:txBody>
          <a:bodyPr>
            <a:normAutofit/>
          </a:bodyPr>
          <a:lstStyle/>
          <a:p>
            <a:pPr marL="0" indent="0">
              <a:buNone/>
            </a:pPr>
            <a:r>
              <a:rPr kumimoji="1" lang="ja-JP" altLang="en-US" sz="2400" b="1" dirty="0"/>
              <a:t>目的：行為ラベル作成</a:t>
            </a:r>
            <a:endParaRPr kumimoji="1" lang="en-US" altLang="ja-JP" sz="2400" b="1" dirty="0"/>
          </a:p>
          <a:p>
            <a:r>
              <a:rPr lang="en-US" altLang="ja-JP" sz="1800" dirty="0"/>
              <a:t>Window Size</a:t>
            </a:r>
            <a:r>
              <a:rPr lang="ja-JP" altLang="en-US" sz="1800" dirty="0"/>
              <a:t>ごとの正解率</a:t>
            </a:r>
            <a:endParaRPr lang="en-US" altLang="ja-JP" sz="1800" dirty="0"/>
          </a:p>
          <a:p>
            <a:r>
              <a:rPr lang="ja-JP" altLang="en-US" sz="1800" dirty="0"/>
              <a:t>複数人の平均正解率</a:t>
            </a:r>
            <a:endParaRPr lang="en-US" altLang="ja-JP" sz="1800" dirty="0"/>
          </a:p>
          <a:p>
            <a:pPr marL="0" indent="0">
              <a:buNone/>
            </a:pPr>
            <a:endParaRPr kumimoji="1" lang="en-US" altLang="ja-JP" sz="1800" dirty="0"/>
          </a:p>
          <a:p>
            <a:pPr marL="0" indent="0">
              <a:buNone/>
            </a:pPr>
            <a:r>
              <a:rPr kumimoji="1" lang="ja-JP" altLang="en-US" sz="1800" dirty="0"/>
              <a:t>評価指標</a:t>
            </a:r>
            <a:endParaRPr kumimoji="1" lang="en-US" altLang="ja-JP" sz="1800" dirty="0"/>
          </a:p>
          <a:p>
            <a:r>
              <a:rPr kumimoji="1" lang="en-US" altLang="ja-JP" sz="1600" dirty="0"/>
              <a:t>Acc</a:t>
            </a:r>
            <a:r>
              <a:rPr kumimoji="1" lang="ja-JP" altLang="en-US" sz="1600" dirty="0"/>
              <a:t>：全データ対する</a:t>
            </a:r>
            <a:r>
              <a:rPr lang="ja-JP" altLang="en-US" sz="1600" dirty="0"/>
              <a:t>正解率</a:t>
            </a:r>
            <a:endParaRPr kumimoji="1" lang="en-US" altLang="ja-JP" sz="1600" dirty="0"/>
          </a:p>
          <a:p>
            <a:r>
              <a:rPr kumimoji="1" lang="en-US" altLang="ja-JP" sz="1600" dirty="0"/>
              <a:t>Acc_c0</a:t>
            </a:r>
            <a:r>
              <a:rPr kumimoji="1" lang="ja-JP" altLang="en-US" sz="1600" dirty="0"/>
              <a:t>：多</a:t>
            </a:r>
            <a:r>
              <a:rPr lang="ja-JP" altLang="en-US" sz="1600" dirty="0"/>
              <a:t>数</a:t>
            </a:r>
            <a:r>
              <a:rPr kumimoji="1" lang="ja-JP" altLang="en-US" sz="1600" dirty="0"/>
              <a:t>クラスに対する正解率</a:t>
            </a:r>
            <a:endParaRPr kumimoji="1" lang="en-US" altLang="ja-JP" sz="1600" dirty="0"/>
          </a:p>
          <a:p>
            <a:r>
              <a:rPr kumimoji="1" lang="en-US" altLang="ja-JP" sz="1600" dirty="0"/>
              <a:t>Acc_c1</a:t>
            </a:r>
            <a:r>
              <a:rPr kumimoji="1" lang="ja-JP" altLang="en-US" sz="1600" dirty="0"/>
              <a:t>：少数クラスに対する正解率</a:t>
            </a:r>
            <a:endParaRPr kumimoji="1" lang="en-US" altLang="ja-JP" sz="1600" dirty="0"/>
          </a:p>
          <a:p>
            <a:r>
              <a:rPr lang="en-US" altLang="ja-JP" sz="1600" dirty="0"/>
              <a:t>Balance </a:t>
            </a:r>
            <a:r>
              <a:rPr lang="en-US" altLang="ja-JP" sz="1600" dirty="0" err="1"/>
              <a:t>Acculacy</a:t>
            </a:r>
            <a:r>
              <a:rPr lang="ja-JP" altLang="en-US" sz="1600" dirty="0"/>
              <a:t>：平均正解率</a:t>
            </a:r>
            <a:endParaRPr kumimoji="1" lang="ja-JP" altLang="en-US" sz="1600" dirty="0"/>
          </a:p>
        </p:txBody>
      </p:sp>
      <p:pic>
        <p:nvPicPr>
          <p:cNvPr id="4" name="図 3">
            <a:extLst>
              <a:ext uri="{FF2B5EF4-FFF2-40B4-BE49-F238E27FC236}">
                <a16:creationId xmlns:a16="http://schemas.microsoft.com/office/drawing/2014/main" id="{B243A2B4-EAF4-1B07-80AF-E9B3B97B9E64}"/>
              </a:ext>
            </a:extLst>
          </p:cNvPr>
          <p:cNvPicPr>
            <a:picLocks noChangeAspect="1"/>
          </p:cNvPicPr>
          <p:nvPr/>
        </p:nvPicPr>
        <p:blipFill>
          <a:blip r:embed="rId3"/>
          <a:stretch>
            <a:fillRect/>
          </a:stretch>
        </p:blipFill>
        <p:spPr>
          <a:xfrm>
            <a:off x="4784090" y="1960562"/>
            <a:ext cx="6656438" cy="4351338"/>
          </a:xfrm>
          <a:prstGeom prst="rect">
            <a:avLst/>
          </a:prstGeom>
        </p:spPr>
      </p:pic>
      <p:sp>
        <p:nvSpPr>
          <p:cNvPr id="7" name="四角形: 角を丸くする 6">
            <a:extLst>
              <a:ext uri="{FF2B5EF4-FFF2-40B4-BE49-F238E27FC236}">
                <a16:creationId xmlns:a16="http://schemas.microsoft.com/office/drawing/2014/main" id="{566A54B9-6DFB-6E3A-F874-62138D2ABD74}"/>
              </a:ext>
            </a:extLst>
          </p:cNvPr>
          <p:cNvSpPr/>
          <p:nvPr/>
        </p:nvSpPr>
        <p:spPr>
          <a:xfrm>
            <a:off x="930414" y="5688846"/>
            <a:ext cx="3491274" cy="55558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ln>
                  <a:solidFill>
                    <a:schemeClr val="bg1"/>
                  </a:solidFill>
                </a:ln>
                <a:solidFill>
                  <a:schemeClr val="bg1"/>
                </a:solidFill>
              </a:rPr>
              <a:t>Window size</a:t>
            </a:r>
            <a:r>
              <a:rPr lang="ja-JP" altLang="en-US" sz="2000" dirty="0">
                <a:ln>
                  <a:solidFill>
                    <a:schemeClr val="bg1"/>
                  </a:solidFill>
                </a:ln>
                <a:solidFill>
                  <a:schemeClr val="bg1"/>
                </a:solidFill>
              </a:rPr>
              <a:t>は</a:t>
            </a:r>
            <a:r>
              <a:rPr lang="en-US" altLang="ja-JP" sz="2000" dirty="0">
                <a:ln>
                  <a:solidFill>
                    <a:schemeClr val="bg1"/>
                  </a:solidFill>
                </a:ln>
                <a:solidFill>
                  <a:schemeClr val="bg1"/>
                </a:solidFill>
              </a:rPr>
              <a:t>512</a:t>
            </a:r>
            <a:r>
              <a:rPr lang="ja-JP" altLang="en-US" sz="2000" dirty="0">
                <a:ln>
                  <a:solidFill>
                    <a:schemeClr val="bg1"/>
                  </a:solidFill>
                </a:ln>
                <a:solidFill>
                  <a:schemeClr val="bg1"/>
                </a:solidFill>
              </a:rPr>
              <a:t>を選択</a:t>
            </a:r>
          </a:p>
        </p:txBody>
      </p:sp>
    </p:spTree>
    <p:extLst>
      <p:ext uri="{BB962C8B-B14F-4D97-AF65-F5344CB8AC3E}">
        <p14:creationId xmlns:p14="http://schemas.microsoft.com/office/powerpoint/2010/main" val="1315195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BDAFC35C-E204-4961-D10B-BF5DA2D7C988}"/>
              </a:ext>
            </a:extLst>
          </p:cNvPr>
          <p:cNvSpPr>
            <a:spLocks noGrp="1"/>
          </p:cNvSpPr>
          <p:nvPr>
            <p:ph idx="1"/>
          </p:nvPr>
        </p:nvSpPr>
        <p:spPr>
          <a:xfrm>
            <a:off x="838200" y="1789529"/>
            <a:ext cx="5248042" cy="4970085"/>
          </a:xfrm>
        </p:spPr>
        <p:txBody>
          <a:bodyPr>
            <a:normAutofit/>
          </a:bodyPr>
          <a:lstStyle/>
          <a:p>
            <a:pPr marL="0" indent="0">
              <a:lnSpc>
                <a:spcPct val="100000"/>
              </a:lnSpc>
              <a:buNone/>
            </a:pPr>
            <a:r>
              <a:rPr lang="ja-JP" altLang="en-US" sz="2400" dirty="0"/>
              <a:t>ランダムフォレストで学習</a:t>
            </a:r>
            <a:endParaRPr lang="en-US" altLang="ja-JP" sz="2400" dirty="0"/>
          </a:p>
          <a:p>
            <a:pPr marL="0" indent="0">
              <a:lnSpc>
                <a:spcPct val="100000"/>
              </a:lnSpc>
              <a:buNone/>
            </a:pPr>
            <a:r>
              <a:rPr lang="ja-JP" altLang="en-US" sz="2000" dirty="0"/>
              <a:t>変数重要度</a:t>
            </a:r>
            <a:endParaRPr lang="en-US" altLang="ja-JP" sz="2000" dirty="0"/>
          </a:p>
          <a:p>
            <a:pPr marL="0" indent="0">
              <a:lnSpc>
                <a:spcPct val="100000"/>
              </a:lnSpc>
              <a:buNone/>
            </a:pPr>
            <a:r>
              <a:rPr lang="ja-JP" altLang="en-US" sz="2400" dirty="0"/>
              <a:t>→</a:t>
            </a:r>
            <a:r>
              <a:rPr lang="en-US" altLang="ja-JP" sz="2000" dirty="0"/>
              <a:t>x</a:t>
            </a:r>
            <a:r>
              <a:rPr lang="ja-JP" altLang="en-US" sz="2000" dirty="0"/>
              <a:t>軸の特定周波数帯が高い</a:t>
            </a:r>
            <a:endParaRPr lang="en-US" altLang="ja-JP" sz="2400" dirty="0"/>
          </a:p>
          <a:p>
            <a:pPr marL="0" indent="0">
              <a:lnSpc>
                <a:spcPct val="100000"/>
              </a:lnSpc>
              <a:buNone/>
            </a:pPr>
            <a:r>
              <a:rPr lang="ja-JP" altLang="en-US" sz="2000" dirty="0"/>
              <a:t>時系列</a:t>
            </a:r>
            <a:endParaRPr lang="en-US" altLang="ja-JP" sz="2000" dirty="0"/>
          </a:p>
          <a:p>
            <a:pPr marL="0" indent="0">
              <a:lnSpc>
                <a:spcPct val="100000"/>
              </a:lnSpc>
              <a:buNone/>
            </a:pPr>
            <a:r>
              <a:rPr lang="ja-JP" altLang="en-US" sz="2400" dirty="0"/>
              <a:t>→</a:t>
            </a:r>
            <a:r>
              <a:rPr lang="ja-JP" altLang="en-US" sz="2000" dirty="0"/>
              <a:t>少数クラスの値が相対的に強い</a:t>
            </a:r>
            <a:endParaRPr lang="en-US" altLang="ja-JP" sz="2000" dirty="0"/>
          </a:p>
          <a:p>
            <a:pPr marL="0" indent="0">
              <a:lnSpc>
                <a:spcPct val="100000"/>
              </a:lnSpc>
              <a:buNone/>
            </a:pPr>
            <a:endParaRPr lang="en-US" altLang="ja-JP" sz="2000" dirty="0"/>
          </a:p>
          <a:p>
            <a:pPr marL="0" indent="0">
              <a:lnSpc>
                <a:spcPct val="100000"/>
              </a:lnSpc>
              <a:buNone/>
            </a:pPr>
            <a:r>
              <a:rPr lang="ja-JP" altLang="en-US" sz="2000" dirty="0"/>
              <a:t>帯域周波数は、強い値が一部でも含まれると、その値の影響を強く受ける</a:t>
            </a:r>
            <a:endParaRPr lang="en-US" altLang="ja-JP" sz="2000" dirty="0"/>
          </a:p>
          <a:p>
            <a:pPr marL="0" indent="0">
              <a:lnSpc>
                <a:spcPct val="100000"/>
              </a:lnSpc>
              <a:buNone/>
            </a:pPr>
            <a:r>
              <a:rPr lang="ja-JP" altLang="en-US" sz="2000" dirty="0"/>
              <a:t>ウィンドウ長を長くすると、多数クラスの値が少数クラスの値に寄る</a:t>
            </a:r>
            <a:endParaRPr lang="en-US" altLang="ja-JP" sz="2000" dirty="0"/>
          </a:p>
        </p:txBody>
      </p:sp>
      <p:sp>
        <p:nvSpPr>
          <p:cNvPr id="2" name="タイトル 1">
            <a:extLst>
              <a:ext uri="{FF2B5EF4-FFF2-40B4-BE49-F238E27FC236}">
                <a16:creationId xmlns:a16="http://schemas.microsoft.com/office/drawing/2014/main" id="{EC1A2468-04B3-2079-36FE-50F8B64BAC30}"/>
              </a:ext>
            </a:extLst>
          </p:cNvPr>
          <p:cNvSpPr>
            <a:spLocks noGrp="1"/>
          </p:cNvSpPr>
          <p:nvPr>
            <p:ph type="title"/>
          </p:nvPr>
        </p:nvSpPr>
        <p:spPr/>
        <p:txBody>
          <a:bodyPr>
            <a:normAutofit/>
          </a:bodyPr>
          <a:lstStyle/>
          <a:p>
            <a:r>
              <a:rPr kumimoji="1" lang="ja-JP" altLang="en-US" sz="4000" dirty="0"/>
              <a:t>クラスタリング結果の考察</a:t>
            </a:r>
          </a:p>
        </p:txBody>
      </p:sp>
      <p:pic>
        <p:nvPicPr>
          <p:cNvPr id="7" name="図 6" descr="グラフ, 折れ線グラフ">
            <a:extLst>
              <a:ext uri="{FF2B5EF4-FFF2-40B4-BE49-F238E27FC236}">
                <a16:creationId xmlns:a16="http://schemas.microsoft.com/office/drawing/2014/main" id="{AFA96F28-54A9-9587-3E57-CD9056C5EAF2}"/>
              </a:ext>
            </a:extLst>
          </p:cNvPr>
          <p:cNvPicPr>
            <a:picLocks noChangeAspect="1"/>
          </p:cNvPicPr>
          <p:nvPr/>
        </p:nvPicPr>
        <p:blipFill>
          <a:blip r:embed="rId3"/>
          <a:srcRect r="7215"/>
          <a:stretch>
            <a:fillRect/>
          </a:stretch>
        </p:blipFill>
        <p:spPr>
          <a:xfrm>
            <a:off x="5951044" y="4992321"/>
            <a:ext cx="6028754" cy="1227839"/>
          </a:xfrm>
          <a:prstGeom prst="rect">
            <a:avLst/>
          </a:prstGeom>
        </p:spPr>
      </p:pic>
      <p:pic>
        <p:nvPicPr>
          <p:cNvPr id="8" name="図 7">
            <a:extLst>
              <a:ext uri="{FF2B5EF4-FFF2-40B4-BE49-F238E27FC236}">
                <a16:creationId xmlns:a16="http://schemas.microsoft.com/office/drawing/2014/main" id="{103012FB-34E7-2B2D-B957-0C31F0AD637B}"/>
              </a:ext>
            </a:extLst>
          </p:cNvPr>
          <p:cNvPicPr>
            <a:picLocks noChangeAspect="1"/>
          </p:cNvPicPr>
          <p:nvPr/>
        </p:nvPicPr>
        <p:blipFill>
          <a:blip r:embed="rId4"/>
          <a:stretch>
            <a:fillRect/>
          </a:stretch>
        </p:blipFill>
        <p:spPr>
          <a:xfrm>
            <a:off x="6105759" y="1859297"/>
            <a:ext cx="5516847" cy="3133024"/>
          </a:xfrm>
          <a:prstGeom prst="rect">
            <a:avLst/>
          </a:prstGeom>
        </p:spPr>
      </p:pic>
      <p:sp>
        <p:nvSpPr>
          <p:cNvPr id="10" name="四角形: 角を丸くする 9">
            <a:extLst>
              <a:ext uri="{FF2B5EF4-FFF2-40B4-BE49-F238E27FC236}">
                <a16:creationId xmlns:a16="http://schemas.microsoft.com/office/drawing/2014/main" id="{7F3237D0-361C-7557-5746-301CB4165FE0}"/>
              </a:ext>
            </a:extLst>
          </p:cNvPr>
          <p:cNvSpPr/>
          <p:nvPr/>
        </p:nvSpPr>
        <p:spPr>
          <a:xfrm>
            <a:off x="1481559" y="6076709"/>
            <a:ext cx="4236334" cy="55558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ln>
                  <a:solidFill>
                    <a:schemeClr val="bg1"/>
                  </a:solidFill>
                </a:ln>
                <a:solidFill>
                  <a:schemeClr val="bg1"/>
                </a:solidFill>
              </a:rPr>
              <a:t>行為時間に合わせた設計が必要</a:t>
            </a:r>
          </a:p>
        </p:txBody>
      </p:sp>
    </p:spTree>
    <p:extLst>
      <p:ext uri="{BB962C8B-B14F-4D97-AF65-F5344CB8AC3E}">
        <p14:creationId xmlns:p14="http://schemas.microsoft.com/office/powerpoint/2010/main" val="117610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BB1654-F5A0-FC66-8B06-9581F11B216F}"/>
              </a:ext>
            </a:extLst>
          </p:cNvPr>
          <p:cNvSpPr>
            <a:spLocks noGrp="1"/>
          </p:cNvSpPr>
          <p:nvPr>
            <p:ph type="title"/>
          </p:nvPr>
        </p:nvSpPr>
        <p:spPr/>
        <p:txBody>
          <a:bodyPr>
            <a:normAutofit/>
          </a:bodyPr>
          <a:lstStyle/>
          <a:p>
            <a:r>
              <a:rPr kumimoji="1" lang="ja-JP" altLang="en-US" sz="4000" dirty="0"/>
              <a:t>行為割り当ての結果と考察</a:t>
            </a:r>
          </a:p>
        </p:txBody>
      </p:sp>
      <p:sp>
        <p:nvSpPr>
          <p:cNvPr id="10" name="テキスト ボックス 9">
            <a:extLst>
              <a:ext uri="{FF2B5EF4-FFF2-40B4-BE49-F238E27FC236}">
                <a16:creationId xmlns:a16="http://schemas.microsoft.com/office/drawing/2014/main" id="{F03BA5B5-E5A9-D771-F39B-4E26BA1C1799}"/>
              </a:ext>
            </a:extLst>
          </p:cNvPr>
          <p:cNvSpPr txBox="1"/>
          <p:nvPr/>
        </p:nvSpPr>
        <p:spPr>
          <a:xfrm>
            <a:off x="591687" y="2143286"/>
            <a:ext cx="5713056" cy="2234394"/>
          </a:xfrm>
          <a:prstGeom prst="rect">
            <a:avLst/>
          </a:prstGeom>
          <a:noFill/>
        </p:spPr>
        <p:txBody>
          <a:bodyPr wrap="square" rtlCol="0">
            <a:spAutoFit/>
          </a:bodyPr>
          <a:lstStyle/>
          <a:p>
            <a:r>
              <a:rPr kumimoji="1" lang="ja-JP" altLang="en-US" sz="2400" b="1" dirty="0"/>
              <a:t>目的：</a:t>
            </a:r>
            <a:endParaRPr kumimoji="1" lang="en-US" altLang="ja-JP" sz="2400" b="1" dirty="0"/>
          </a:p>
          <a:p>
            <a:r>
              <a:rPr kumimoji="1" lang="ja-JP" altLang="en-US" sz="2400" b="1" dirty="0"/>
              <a:t>モデルユーザごとのラベル割り当て</a:t>
            </a:r>
            <a:endParaRPr kumimoji="1" lang="en-US" altLang="ja-JP" sz="2400" b="1" dirty="0"/>
          </a:p>
          <a:p>
            <a:endParaRPr kumimoji="1" lang="en-US" altLang="ja-JP" sz="2400" b="1" dirty="0"/>
          </a:p>
          <a:p>
            <a:pPr marL="342900" indent="-342900">
              <a:lnSpc>
                <a:spcPct val="200000"/>
              </a:lnSpc>
              <a:buFont typeface="Arial" panose="020B0604020202020204" pitchFamily="34" charset="0"/>
              <a:buChar char="•"/>
            </a:pPr>
            <a:r>
              <a:rPr kumimoji="1" lang="ja-JP" altLang="en-US" sz="2000" dirty="0"/>
              <a:t>割り当ての平均</a:t>
            </a:r>
            <a:r>
              <a:rPr kumimoji="1" lang="en-US" altLang="ja-JP" sz="2000" dirty="0"/>
              <a:t>F1</a:t>
            </a:r>
            <a:r>
              <a:rPr kumimoji="1" lang="ja-JP" altLang="en-US" sz="2000" dirty="0"/>
              <a:t>スコア：</a:t>
            </a:r>
            <a:r>
              <a:rPr kumimoji="1" lang="en-US" altLang="ja-JP" sz="2000" b="1" dirty="0"/>
              <a:t>0.80</a:t>
            </a:r>
            <a:endParaRPr kumimoji="1" lang="en-US" altLang="ja-JP" sz="2000" dirty="0"/>
          </a:p>
          <a:p>
            <a:pPr marL="342900" indent="-342900">
              <a:lnSpc>
                <a:spcPct val="150000"/>
              </a:lnSpc>
              <a:buFont typeface="Arial" panose="020B0604020202020204" pitchFamily="34" charset="0"/>
              <a:buChar char="•"/>
            </a:pPr>
            <a:r>
              <a:rPr kumimoji="1" lang="ja-JP" altLang="en-US" sz="2000" dirty="0"/>
              <a:t>クラスタリングと割り当てに正の相関はない</a:t>
            </a:r>
            <a:endParaRPr kumimoji="1" lang="en-US" altLang="ja-JP" sz="2000" dirty="0"/>
          </a:p>
        </p:txBody>
      </p:sp>
      <p:sp>
        <p:nvSpPr>
          <p:cNvPr id="11" name="四角形: 角を丸くする 10">
            <a:extLst>
              <a:ext uri="{FF2B5EF4-FFF2-40B4-BE49-F238E27FC236}">
                <a16:creationId xmlns:a16="http://schemas.microsoft.com/office/drawing/2014/main" id="{F5072F02-23E3-93D6-CC55-6D3E304CBFF2}"/>
              </a:ext>
            </a:extLst>
          </p:cNvPr>
          <p:cNvSpPr/>
          <p:nvPr/>
        </p:nvSpPr>
        <p:spPr>
          <a:xfrm>
            <a:off x="591687" y="5092846"/>
            <a:ext cx="5551985" cy="100383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n>
                  <a:solidFill>
                    <a:schemeClr val="bg1"/>
                  </a:solidFill>
                </a:ln>
                <a:solidFill>
                  <a:schemeClr val="bg1"/>
                </a:solidFill>
              </a:rPr>
              <a:t>行動がわかりやすい人よりも、典型的な行動の人のほうがモデルユーザとして適任</a:t>
            </a:r>
          </a:p>
        </p:txBody>
      </p:sp>
      <p:pic>
        <p:nvPicPr>
          <p:cNvPr id="3" name="図 2" descr="グラフ, 散布図">
            <a:extLst>
              <a:ext uri="{FF2B5EF4-FFF2-40B4-BE49-F238E27FC236}">
                <a16:creationId xmlns:a16="http://schemas.microsoft.com/office/drawing/2014/main" id="{3FF5C70B-3420-D8E8-FB9D-7EFD43939819}"/>
              </a:ext>
            </a:extLst>
          </p:cNvPr>
          <p:cNvPicPr>
            <a:picLocks noChangeAspect="1"/>
          </p:cNvPicPr>
          <p:nvPr/>
        </p:nvPicPr>
        <p:blipFill>
          <a:blip r:embed="rId3"/>
          <a:srcRect l="3398" t="4582" b="4904"/>
          <a:stretch>
            <a:fillRect/>
          </a:stretch>
        </p:blipFill>
        <p:spPr>
          <a:xfrm>
            <a:off x="6616200" y="2297680"/>
            <a:ext cx="5265626" cy="3865160"/>
          </a:xfrm>
          <a:prstGeom prst="rect">
            <a:avLst/>
          </a:prstGeom>
        </p:spPr>
      </p:pic>
      <p:sp>
        <p:nvSpPr>
          <p:cNvPr id="4" name="テキスト ボックス 3">
            <a:extLst>
              <a:ext uri="{FF2B5EF4-FFF2-40B4-BE49-F238E27FC236}">
                <a16:creationId xmlns:a16="http://schemas.microsoft.com/office/drawing/2014/main" id="{6A8BC6AB-F86A-85B6-EE2D-8AE378D29219}"/>
              </a:ext>
            </a:extLst>
          </p:cNvPr>
          <p:cNvSpPr txBox="1"/>
          <p:nvPr/>
        </p:nvSpPr>
        <p:spPr>
          <a:xfrm>
            <a:off x="7916073" y="6146015"/>
            <a:ext cx="2847373" cy="369332"/>
          </a:xfrm>
          <a:prstGeom prst="rect">
            <a:avLst/>
          </a:prstGeom>
          <a:solidFill>
            <a:schemeClr val="bg1"/>
          </a:solidFill>
        </p:spPr>
        <p:txBody>
          <a:bodyPr wrap="square" rtlCol="0">
            <a:spAutoFit/>
          </a:bodyPr>
          <a:lstStyle/>
          <a:p>
            <a:pPr algn="ctr"/>
            <a:r>
              <a:rPr kumimoji="1" lang="ja-JP" altLang="en-US" dirty="0"/>
              <a:t>クラスタリング</a:t>
            </a:r>
            <a:r>
              <a:rPr kumimoji="1" lang="en-US" altLang="ja-JP" dirty="0"/>
              <a:t>F1</a:t>
            </a:r>
            <a:r>
              <a:rPr kumimoji="1" lang="ja-JP" altLang="en-US" dirty="0"/>
              <a:t>スコア</a:t>
            </a:r>
          </a:p>
        </p:txBody>
      </p:sp>
      <p:sp>
        <p:nvSpPr>
          <p:cNvPr id="9" name="テキスト ボックス 8">
            <a:extLst>
              <a:ext uri="{FF2B5EF4-FFF2-40B4-BE49-F238E27FC236}">
                <a16:creationId xmlns:a16="http://schemas.microsoft.com/office/drawing/2014/main" id="{303378D9-3698-245E-87B3-CB11B737BAD0}"/>
              </a:ext>
            </a:extLst>
          </p:cNvPr>
          <p:cNvSpPr txBox="1"/>
          <p:nvPr/>
        </p:nvSpPr>
        <p:spPr>
          <a:xfrm rot="16200000">
            <a:off x="5065723" y="3933272"/>
            <a:ext cx="2847373" cy="369332"/>
          </a:xfrm>
          <a:prstGeom prst="rect">
            <a:avLst/>
          </a:prstGeom>
          <a:solidFill>
            <a:schemeClr val="bg1"/>
          </a:solidFill>
        </p:spPr>
        <p:txBody>
          <a:bodyPr wrap="square" rtlCol="0">
            <a:spAutoFit/>
          </a:bodyPr>
          <a:lstStyle/>
          <a:p>
            <a:pPr algn="ctr"/>
            <a:r>
              <a:rPr kumimoji="1" lang="ja-JP" altLang="en-US" dirty="0"/>
              <a:t>割り当て</a:t>
            </a:r>
            <a:r>
              <a:rPr kumimoji="1" lang="en-US" altLang="ja-JP" dirty="0"/>
              <a:t>F1</a:t>
            </a:r>
            <a:r>
              <a:rPr kumimoji="1" lang="ja-JP" altLang="en-US" dirty="0"/>
              <a:t>スコア</a:t>
            </a:r>
          </a:p>
        </p:txBody>
      </p:sp>
      <p:sp>
        <p:nvSpPr>
          <p:cNvPr id="12" name="テキスト ボックス 11">
            <a:extLst>
              <a:ext uri="{FF2B5EF4-FFF2-40B4-BE49-F238E27FC236}">
                <a16:creationId xmlns:a16="http://schemas.microsoft.com/office/drawing/2014/main" id="{686991C7-5F5C-A8CE-662C-4AF2AABE5561}"/>
              </a:ext>
            </a:extLst>
          </p:cNvPr>
          <p:cNvSpPr txBox="1"/>
          <p:nvPr/>
        </p:nvSpPr>
        <p:spPr>
          <a:xfrm>
            <a:off x="7352424" y="1987209"/>
            <a:ext cx="3974670" cy="369332"/>
          </a:xfrm>
          <a:prstGeom prst="rect">
            <a:avLst/>
          </a:prstGeom>
          <a:solidFill>
            <a:schemeClr val="bg1"/>
          </a:solidFill>
        </p:spPr>
        <p:txBody>
          <a:bodyPr wrap="square" rtlCol="0">
            <a:spAutoFit/>
          </a:bodyPr>
          <a:lstStyle/>
          <a:p>
            <a:pPr algn="ctr"/>
            <a:r>
              <a:rPr kumimoji="1" lang="ja-JP" altLang="en-US" dirty="0"/>
              <a:t>被験者別クラスタリング</a:t>
            </a:r>
            <a:r>
              <a:rPr kumimoji="1" lang="en-US" altLang="ja-JP" dirty="0"/>
              <a:t>×</a:t>
            </a:r>
            <a:r>
              <a:rPr kumimoji="1" lang="ja-JP" altLang="en-US" dirty="0"/>
              <a:t>割り当て</a:t>
            </a:r>
          </a:p>
        </p:txBody>
      </p:sp>
    </p:spTree>
    <p:extLst>
      <p:ext uri="{BB962C8B-B14F-4D97-AF65-F5344CB8AC3E}">
        <p14:creationId xmlns:p14="http://schemas.microsoft.com/office/powerpoint/2010/main" val="3334113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6234C-DEAF-DBB6-EDD0-2EE9337BB668}"/>
              </a:ext>
            </a:extLst>
          </p:cNvPr>
          <p:cNvSpPr>
            <a:spLocks noGrp="1"/>
          </p:cNvSpPr>
          <p:nvPr>
            <p:ph type="title"/>
          </p:nvPr>
        </p:nvSpPr>
        <p:spPr/>
        <p:txBody>
          <a:bodyPr>
            <a:normAutofit/>
          </a:bodyPr>
          <a:lstStyle/>
          <a:p>
            <a:r>
              <a:rPr kumimoji="1" lang="ja-JP" altLang="en-US" sz="4000" dirty="0"/>
              <a:t>エッジ</a:t>
            </a:r>
            <a:r>
              <a:rPr kumimoji="1" lang="en-US" altLang="ja-JP" sz="4000" dirty="0"/>
              <a:t>AI</a:t>
            </a:r>
            <a:r>
              <a:rPr kumimoji="1" lang="ja-JP" altLang="en-US" sz="4000" dirty="0"/>
              <a:t>行為推定の結果</a:t>
            </a:r>
          </a:p>
        </p:txBody>
      </p:sp>
      <p:sp>
        <p:nvSpPr>
          <p:cNvPr id="3" name="コンテンツ プレースホルダー 2">
            <a:extLst>
              <a:ext uri="{FF2B5EF4-FFF2-40B4-BE49-F238E27FC236}">
                <a16:creationId xmlns:a16="http://schemas.microsoft.com/office/drawing/2014/main" id="{56BF5AC9-1A13-F411-9005-D13A94A93B78}"/>
              </a:ext>
            </a:extLst>
          </p:cNvPr>
          <p:cNvSpPr>
            <a:spLocks noGrp="1"/>
          </p:cNvSpPr>
          <p:nvPr>
            <p:ph idx="1"/>
          </p:nvPr>
        </p:nvSpPr>
        <p:spPr>
          <a:xfrm>
            <a:off x="530094" y="2179530"/>
            <a:ext cx="4500880" cy="4485966"/>
          </a:xfrm>
        </p:spPr>
        <p:txBody>
          <a:bodyPr>
            <a:normAutofit/>
          </a:bodyPr>
          <a:lstStyle/>
          <a:p>
            <a:pPr marL="0" indent="0">
              <a:lnSpc>
                <a:spcPct val="100000"/>
              </a:lnSpc>
              <a:buNone/>
            </a:pPr>
            <a:r>
              <a:rPr kumimoji="1" lang="ja-JP" altLang="en-US" sz="2400" b="1" dirty="0"/>
              <a:t>目的：</a:t>
            </a:r>
            <a:r>
              <a:rPr lang="ja-JP" altLang="en-US" sz="2400" b="1" dirty="0"/>
              <a:t>疑似ラベル、軽量モデルの有用性</a:t>
            </a:r>
            <a:endParaRPr kumimoji="1" lang="en-US" altLang="ja-JP" sz="2400" b="1" dirty="0"/>
          </a:p>
          <a:p>
            <a:pPr marL="0" indent="0">
              <a:lnSpc>
                <a:spcPct val="100000"/>
              </a:lnSpc>
              <a:buNone/>
            </a:pPr>
            <a:endParaRPr kumimoji="1" lang="en-US" altLang="ja-JP" sz="1100" dirty="0"/>
          </a:p>
          <a:p>
            <a:pPr marL="0" indent="0">
              <a:lnSpc>
                <a:spcPct val="100000"/>
              </a:lnSpc>
              <a:buNone/>
            </a:pPr>
            <a:r>
              <a:rPr kumimoji="1" lang="ja-JP" altLang="en-US" sz="2000" dirty="0"/>
              <a:t>疑似ラベル使用</a:t>
            </a:r>
            <a:endParaRPr lang="en-US" altLang="ja-JP" sz="2000" dirty="0"/>
          </a:p>
          <a:p>
            <a:pPr marL="0" indent="0">
              <a:lnSpc>
                <a:spcPct val="100000"/>
              </a:lnSpc>
              <a:buNone/>
            </a:pPr>
            <a:r>
              <a:rPr kumimoji="1" lang="ja-JP" altLang="en-US" sz="2000" dirty="0"/>
              <a:t>軽量ランダムフォレスト</a:t>
            </a:r>
            <a:endParaRPr kumimoji="1" lang="en-US" altLang="ja-JP" sz="2000" dirty="0"/>
          </a:p>
          <a:p>
            <a:pPr lvl="1">
              <a:lnSpc>
                <a:spcPct val="100000"/>
              </a:lnSpc>
            </a:pPr>
            <a:r>
              <a:rPr lang="ja-JP" altLang="en-US" sz="1800" dirty="0"/>
              <a:t>木の本数：</a:t>
            </a:r>
            <a:r>
              <a:rPr lang="en-US" altLang="ja-JP" sz="1800" dirty="0"/>
              <a:t>10</a:t>
            </a:r>
            <a:r>
              <a:rPr lang="ja-JP" altLang="en-US" sz="1800" dirty="0"/>
              <a:t>本</a:t>
            </a:r>
            <a:endParaRPr lang="en-US" altLang="ja-JP" sz="1800" dirty="0"/>
          </a:p>
          <a:p>
            <a:pPr lvl="1">
              <a:lnSpc>
                <a:spcPct val="100000"/>
              </a:lnSpc>
            </a:pPr>
            <a:r>
              <a:rPr kumimoji="1" lang="ja-JP" altLang="en-US" sz="1800" dirty="0"/>
              <a:t>深さ：</a:t>
            </a:r>
            <a:r>
              <a:rPr kumimoji="1" lang="en-US" altLang="ja-JP" sz="1800" dirty="0"/>
              <a:t>10</a:t>
            </a:r>
          </a:p>
          <a:p>
            <a:pPr lvl="1">
              <a:lnSpc>
                <a:spcPct val="100000"/>
              </a:lnSpc>
            </a:pPr>
            <a:endParaRPr lang="en-US" altLang="ja-JP" sz="2000" dirty="0"/>
          </a:p>
        </p:txBody>
      </p:sp>
      <p:pic>
        <p:nvPicPr>
          <p:cNvPr id="6" name="図 5" descr="グラフ, 折れ線グラフ">
            <a:extLst>
              <a:ext uri="{FF2B5EF4-FFF2-40B4-BE49-F238E27FC236}">
                <a16:creationId xmlns:a16="http://schemas.microsoft.com/office/drawing/2014/main" id="{8BE1A04C-1F90-DC1E-42AE-F0B4E55905AB}"/>
              </a:ext>
            </a:extLst>
          </p:cNvPr>
          <p:cNvPicPr>
            <a:picLocks noChangeAspect="1"/>
          </p:cNvPicPr>
          <p:nvPr/>
        </p:nvPicPr>
        <p:blipFill>
          <a:blip r:embed="rId3"/>
          <a:srcRect l="3293" t="5356" b="5055"/>
          <a:stretch>
            <a:fillRect/>
          </a:stretch>
        </p:blipFill>
        <p:spPr>
          <a:xfrm>
            <a:off x="5302186" y="2179530"/>
            <a:ext cx="6620180" cy="3866762"/>
          </a:xfrm>
          <a:prstGeom prst="rect">
            <a:avLst/>
          </a:prstGeom>
        </p:spPr>
      </p:pic>
      <p:sp>
        <p:nvSpPr>
          <p:cNvPr id="7" name="テキスト ボックス 6">
            <a:extLst>
              <a:ext uri="{FF2B5EF4-FFF2-40B4-BE49-F238E27FC236}">
                <a16:creationId xmlns:a16="http://schemas.microsoft.com/office/drawing/2014/main" id="{32D84195-74BA-AFE1-1ABD-FC6974372C78}"/>
              </a:ext>
            </a:extLst>
          </p:cNvPr>
          <p:cNvSpPr txBox="1"/>
          <p:nvPr/>
        </p:nvSpPr>
        <p:spPr>
          <a:xfrm>
            <a:off x="7169260" y="6008808"/>
            <a:ext cx="2875280" cy="369332"/>
          </a:xfrm>
          <a:prstGeom prst="rect">
            <a:avLst/>
          </a:prstGeom>
          <a:solidFill>
            <a:schemeClr val="bg1"/>
          </a:solidFill>
        </p:spPr>
        <p:txBody>
          <a:bodyPr wrap="square" rtlCol="0">
            <a:spAutoFit/>
          </a:bodyPr>
          <a:lstStyle/>
          <a:p>
            <a:pPr algn="ctr"/>
            <a:r>
              <a:rPr kumimoji="1" lang="ja-JP" altLang="en-US" dirty="0"/>
              <a:t>訓練者人数</a:t>
            </a:r>
          </a:p>
        </p:txBody>
      </p:sp>
      <p:sp>
        <p:nvSpPr>
          <p:cNvPr id="8" name="テキスト ボックス 7">
            <a:extLst>
              <a:ext uri="{FF2B5EF4-FFF2-40B4-BE49-F238E27FC236}">
                <a16:creationId xmlns:a16="http://schemas.microsoft.com/office/drawing/2014/main" id="{C173D335-0149-8839-A1BB-364C249E7249}"/>
              </a:ext>
            </a:extLst>
          </p:cNvPr>
          <p:cNvSpPr txBox="1"/>
          <p:nvPr/>
        </p:nvSpPr>
        <p:spPr>
          <a:xfrm rot="16200000">
            <a:off x="4071527" y="3766567"/>
            <a:ext cx="2204720" cy="369332"/>
          </a:xfrm>
          <a:prstGeom prst="rect">
            <a:avLst/>
          </a:prstGeom>
          <a:noFill/>
        </p:spPr>
        <p:txBody>
          <a:bodyPr wrap="square" rtlCol="0">
            <a:spAutoFit/>
          </a:bodyPr>
          <a:lstStyle/>
          <a:p>
            <a:pPr algn="ctr"/>
            <a:r>
              <a:rPr kumimoji="1" lang="en-US" altLang="ja-JP" dirty="0"/>
              <a:t>F1</a:t>
            </a:r>
            <a:r>
              <a:rPr kumimoji="1" lang="ja-JP" altLang="en-US" dirty="0"/>
              <a:t>スコア（平均）</a:t>
            </a:r>
          </a:p>
        </p:txBody>
      </p:sp>
      <p:sp>
        <p:nvSpPr>
          <p:cNvPr id="9" name="テキスト ボックス 8">
            <a:extLst>
              <a:ext uri="{FF2B5EF4-FFF2-40B4-BE49-F238E27FC236}">
                <a16:creationId xmlns:a16="http://schemas.microsoft.com/office/drawing/2014/main" id="{4FD96EDE-AE6E-27BE-4395-3639BD4BD8A3}"/>
              </a:ext>
            </a:extLst>
          </p:cNvPr>
          <p:cNvSpPr txBox="1"/>
          <p:nvPr/>
        </p:nvSpPr>
        <p:spPr>
          <a:xfrm>
            <a:off x="7225140" y="1810198"/>
            <a:ext cx="2875280" cy="369332"/>
          </a:xfrm>
          <a:prstGeom prst="rect">
            <a:avLst/>
          </a:prstGeom>
          <a:solidFill>
            <a:schemeClr val="bg1"/>
          </a:solidFill>
        </p:spPr>
        <p:txBody>
          <a:bodyPr wrap="square" rtlCol="0">
            <a:spAutoFit/>
          </a:bodyPr>
          <a:lstStyle/>
          <a:p>
            <a:pPr algn="ctr"/>
            <a:r>
              <a:rPr lang="ja-JP" altLang="en-US" dirty="0"/>
              <a:t>訓練者数別の精度</a:t>
            </a:r>
            <a:endParaRPr kumimoji="1" lang="en-US" altLang="ja-JP" dirty="0"/>
          </a:p>
        </p:txBody>
      </p:sp>
      <p:sp>
        <p:nvSpPr>
          <p:cNvPr id="4" name="四角形: 角を丸くする 3">
            <a:extLst>
              <a:ext uri="{FF2B5EF4-FFF2-40B4-BE49-F238E27FC236}">
                <a16:creationId xmlns:a16="http://schemas.microsoft.com/office/drawing/2014/main" id="{1A493FD4-683E-25BB-FE96-EF27B09D6C57}"/>
              </a:ext>
            </a:extLst>
          </p:cNvPr>
          <p:cNvSpPr/>
          <p:nvPr/>
        </p:nvSpPr>
        <p:spPr>
          <a:xfrm>
            <a:off x="653838" y="5380474"/>
            <a:ext cx="4253392" cy="88880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n>
                  <a:solidFill>
                    <a:schemeClr val="bg1"/>
                  </a:solidFill>
                </a:ln>
              </a:rPr>
              <a:t>エッジ</a:t>
            </a:r>
            <a:r>
              <a:rPr kumimoji="1" lang="en-US" altLang="ja-JP" sz="2000" dirty="0">
                <a:ln>
                  <a:solidFill>
                    <a:schemeClr val="bg1"/>
                  </a:solidFill>
                </a:ln>
              </a:rPr>
              <a:t>AI</a:t>
            </a:r>
            <a:r>
              <a:rPr kumimoji="1" lang="ja-JP" altLang="en-US" sz="2000" dirty="0">
                <a:ln>
                  <a:solidFill>
                    <a:schemeClr val="bg1"/>
                  </a:solidFill>
                </a:ln>
              </a:rPr>
              <a:t>で実用的な分類モデルを構築可能</a:t>
            </a:r>
            <a:endParaRPr kumimoji="1" lang="ja-JP" altLang="en-US" sz="2000" dirty="0">
              <a:ln>
                <a:solidFill>
                  <a:schemeClr val="bg1"/>
                </a:solidFill>
              </a:ln>
              <a:solidFill>
                <a:schemeClr val="bg1"/>
              </a:solidFill>
            </a:endParaRPr>
          </a:p>
        </p:txBody>
      </p:sp>
    </p:spTree>
    <p:extLst>
      <p:ext uri="{BB962C8B-B14F-4D97-AF65-F5344CB8AC3E}">
        <p14:creationId xmlns:p14="http://schemas.microsoft.com/office/powerpoint/2010/main" val="3910946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7EBB7E-19EA-0685-D1CC-62C0B38D8426}"/>
              </a:ext>
            </a:extLst>
          </p:cNvPr>
          <p:cNvSpPr>
            <a:spLocks noGrp="1"/>
          </p:cNvSpPr>
          <p:nvPr>
            <p:ph type="title"/>
          </p:nvPr>
        </p:nvSpPr>
        <p:spPr/>
        <p:txBody>
          <a:bodyPr>
            <a:normAutofit/>
          </a:bodyPr>
          <a:lstStyle/>
          <a:p>
            <a:r>
              <a:rPr kumimoji="1" lang="ja-JP" altLang="en-US" sz="4000" dirty="0"/>
              <a:t>行為推定結果</a:t>
            </a:r>
          </a:p>
        </p:txBody>
      </p:sp>
      <p:sp>
        <p:nvSpPr>
          <p:cNvPr id="3" name="コンテンツ プレースホルダー 2">
            <a:extLst>
              <a:ext uri="{FF2B5EF4-FFF2-40B4-BE49-F238E27FC236}">
                <a16:creationId xmlns:a16="http://schemas.microsoft.com/office/drawing/2014/main" id="{49063FF2-CB78-03BB-3874-0BCBB5657C0D}"/>
              </a:ext>
            </a:extLst>
          </p:cNvPr>
          <p:cNvSpPr>
            <a:spLocks noGrp="1"/>
          </p:cNvSpPr>
          <p:nvPr>
            <p:ph idx="1"/>
          </p:nvPr>
        </p:nvSpPr>
        <p:spPr>
          <a:xfrm>
            <a:off x="838200" y="1825624"/>
            <a:ext cx="10515600" cy="4839336"/>
          </a:xfrm>
        </p:spPr>
        <p:txBody>
          <a:bodyPr>
            <a:normAutofit/>
          </a:bodyPr>
          <a:lstStyle/>
          <a:p>
            <a:pPr marL="0" indent="0">
              <a:lnSpc>
                <a:spcPct val="100000"/>
              </a:lnSpc>
              <a:buNone/>
            </a:pPr>
            <a:r>
              <a:rPr lang="en-US" altLang="ja-JP" b="1" dirty="0"/>
              <a:t>&lt;</a:t>
            </a:r>
            <a:r>
              <a:rPr kumimoji="1" lang="ja-JP" altLang="en-US" b="1" dirty="0"/>
              <a:t> 総合結果 </a:t>
            </a:r>
            <a:r>
              <a:rPr kumimoji="1" lang="en-US" altLang="ja-JP" b="1" dirty="0"/>
              <a:t>&gt;</a:t>
            </a:r>
          </a:p>
          <a:p>
            <a:pPr marL="0" indent="0">
              <a:lnSpc>
                <a:spcPct val="100000"/>
              </a:lnSpc>
              <a:buNone/>
            </a:pPr>
            <a:r>
              <a:rPr kumimoji="1" lang="ja-JP" altLang="en-US" dirty="0"/>
              <a:t>教師なしクラスタリング＋</a:t>
            </a:r>
            <a:r>
              <a:rPr lang="ja-JP" altLang="en-US" dirty="0"/>
              <a:t>割り当てモデル＋エッジ</a:t>
            </a:r>
            <a:r>
              <a:rPr lang="en-US" altLang="ja-JP" dirty="0"/>
              <a:t>AI</a:t>
            </a:r>
            <a:endParaRPr kumimoji="1" lang="en-US" altLang="ja-JP" dirty="0"/>
          </a:p>
          <a:p>
            <a:pPr marL="0" indent="0">
              <a:lnSpc>
                <a:spcPct val="100000"/>
              </a:lnSpc>
              <a:buNone/>
            </a:pPr>
            <a:r>
              <a:rPr lang="ja-JP" altLang="en-US" dirty="0"/>
              <a:t>　→ </a:t>
            </a:r>
            <a:r>
              <a:rPr kumimoji="1" lang="ja-JP" altLang="en-US" b="1" dirty="0"/>
              <a:t>リアルタイム行為推定</a:t>
            </a:r>
            <a:r>
              <a:rPr lang="ja-JP" altLang="en-US" b="1" dirty="0"/>
              <a:t>が</a:t>
            </a:r>
            <a:r>
              <a:rPr lang="en-US" altLang="ja-JP" b="1" dirty="0"/>
              <a:t>0.85</a:t>
            </a:r>
            <a:r>
              <a:rPr lang="ja-JP" altLang="en-US" b="1" dirty="0"/>
              <a:t>以上</a:t>
            </a:r>
            <a:endParaRPr kumimoji="1" lang="en-US" altLang="ja-JP" b="1" dirty="0"/>
          </a:p>
          <a:p>
            <a:pPr marL="0" indent="0">
              <a:lnSpc>
                <a:spcPct val="100000"/>
              </a:lnSpc>
              <a:buNone/>
            </a:pPr>
            <a:endParaRPr lang="en-US" altLang="ja-JP" dirty="0"/>
          </a:p>
          <a:p>
            <a:pPr marL="0" indent="0">
              <a:lnSpc>
                <a:spcPct val="100000"/>
              </a:lnSpc>
              <a:buNone/>
            </a:pPr>
            <a:r>
              <a:rPr kumimoji="1" lang="ja-JP" altLang="en-US" dirty="0"/>
              <a:t>誤検知が起きる場合</a:t>
            </a:r>
            <a:endParaRPr kumimoji="1" lang="en-US" altLang="ja-JP" dirty="0"/>
          </a:p>
          <a:p>
            <a:pPr marL="457200" lvl="1" indent="0">
              <a:lnSpc>
                <a:spcPct val="100000"/>
              </a:lnSpc>
              <a:buNone/>
            </a:pPr>
            <a:r>
              <a:rPr kumimoji="1" lang="ja-JP" altLang="en-US" dirty="0"/>
              <a:t>クラスの</a:t>
            </a:r>
            <a:r>
              <a:rPr lang="ja-JP" altLang="en-US" dirty="0"/>
              <a:t>遷移に対応するピークが</a:t>
            </a:r>
            <a:endParaRPr lang="en-US" altLang="ja-JP" dirty="0"/>
          </a:p>
          <a:p>
            <a:pPr marL="457200" lvl="1" indent="0">
              <a:lnSpc>
                <a:spcPct val="100000"/>
              </a:lnSpc>
              <a:buNone/>
            </a:pPr>
            <a:r>
              <a:rPr lang="ja-JP" altLang="en-US" dirty="0"/>
              <a:t>判別の手がかり</a:t>
            </a: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9B508190-E0C9-A68C-CE43-0094C7315BD2}"/>
              </a:ext>
            </a:extLst>
          </p:cNvPr>
          <p:cNvPicPr>
            <a:picLocks noChangeAspect="1"/>
          </p:cNvPicPr>
          <p:nvPr/>
        </p:nvPicPr>
        <p:blipFill>
          <a:blip r:embed="rId3">
            <a:extLst>
              <a:ext uri="{28A0092B-C50C-407E-A947-70E740481C1C}">
                <a14:useLocalDpi xmlns:a14="http://schemas.microsoft.com/office/drawing/2010/main" val="0"/>
              </a:ext>
            </a:extLst>
          </a:blip>
          <a:srcRect l="70584" r="6631"/>
          <a:stretch>
            <a:fillRect/>
          </a:stretch>
        </p:blipFill>
        <p:spPr>
          <a:xfrm>
            <a:off x="7627716" y="3821801"/>
            <a:ext cx="3252487" cy="1409354"/>
          </a:xfrm>
          <a:prstGeom prst="rect">
            <a:avLst/>
          </a:prstGeom>
        </p:spPr>
      </p:pic>
      <p:pic>
        <p:nvPicPr>
          <p:cNvPr id="7" name="図 6" descr="グラフ, 折れ線グラフ&#10;&#10;AI 生成コンテンツは誤りを含む可能性があります。">
            <a:extLst>
              <a:ext uri="{FF2B5EF4-FFF2-40B4-BE49-F238E27FC236}">
                <a16:creationId xmlns:a16="http://schemas.microsoft.com/office/drawing/2014/main" id="{10D20B23-59A0-90C6-BF20-674DEFD27110}"/>
              </a:ext>
            </a:extLst>
          </p:cNvPr>
          <p:cNvPicPr>
            <a:picLocks noChangeAspect="1"/>
          </p:cNvPicPr>
          <p:nvPr/>
        </p:nvPicPr>
        <p:blipFill>
          <a:blip r:embed="rId4">
            <a:extLst>
              <a:ext uri="{28A0092B-C50C-407E-A947-70E740481C1C}">
                <a14:useLocalDpi xmlns:a14="http://schemas.microsoft.com/office/drawing/2010/main" val="0"/>
              </a:ext>
            </a:extLst>
          </a:blip>
          <a:srcRect l="70584" r="6631"/>
          <a:stretch>
            <a:fillRect/>
          </a:stretch>
        </p:blipFill>
        <p:spPr>
          <a:xfrm>
            <a:off x="7627716" y="5448646"/>
            <a:ext cx="3252487" cy="1409354"/>
          </a:xfrm>
          <a:prstGeom prst="rect">
            <a:avLst/>
          </a:prstGeom>
        </p:spPr>
      </p:pic>
      <p:sp>
        <p:nvSpPr>
          <p:cNvPr id="8" name="テキスト ボックス 7">
            <a:extLst>
              <a:ext uri="{FF2B5EF4-FFF2-40B4-BE49-F238E27FC236}">
                <a16:creationId xmlns:a16="http://schemas.microsoft.com/office/drawing/2014/main" id="{EB4D5FB3-7F1C-B8E9-D4E1-3B80FCE94CBE}"/>
              </a:ext>
            </a:extLst>
          </p:cNvPr>
          <p:cNvSpPr txBox="1"/>
          <p:nvPr/>
        </p:nvSpPr>
        <p:spPr>
          <a:xfrm>
            <a:off x="8497745" y="3452469"/>
            <a:ext cx="1512425" cy="369332"/>
          </a:xfrm>
          <a:prstGeom prst="rect">
            <a:avLst/>
          </a:prstGeom>
          <a:noFill/>
        </p:spPr>
        <p:txBody>
          <a:bodyPr wrap="square" rtlCol="0">
            <a:spAutoFit/>
          </a:bodyPr>
          <a:lstStyle/>
          <a:p>
            <a:r>
              <a:rPr kumimoji="1" lang="ja-JP" altLang="en-US" dirty="0"/>
              <a:t>正解ラベル</a:t>
            </a:r>
          </a:p>
        </p:txBody>
      </p:sp>
      <p:sp>
        <p:nvSpPr>
          <p:cNvPr id="9" name="テキスト ボックス 8">
            <a:extLst>
              <a:ext uri="{FF2B5EF4-FFF2-40B4-BE49-F238E27FC236}">
                <a16:creationId xmlns:a16="http://schemas.microsoft.com/office/drawing/2014/main" id="{ABA6F498-9DF9-8475-4403-F1F7C5AE7F2A}"/>
              </a:ext>
            </a:extLst>
          </p:cNvPr>
          <p:cNvSpPr txBox="1"/>
          <p:nvPr/>
        </p:nvSpPr>
        <p:spPr>
          <a:xfrm>
            <a:off x="8497746" y="5070940"/>
            <a:ext cx="1512425" cy="369332"/>
          </a:xfrm>
          <a:prstGeom prst="rect">
            <a:avLst/>
          </a:prstGeom>
          <a:noFill/>
        </p:spPr>
        <p:txBody>
          <a:bodyPr wrap="square" rtlCol="0">
            <a:spAutoFit/>
          </a:bodyPr>
          <a:lstStyle/>
          <a:p>
            <a:r>
              <a:rPr kumimoji="1" lang="ja-JP" altLang="en-US" dirty="0"/>
              <a:t>予測ラベル</a:t>
            </a:r>
          </a:p>
        </p:txBody>
      </p:sp>
    </p:spTree>
    <p:extLst>
      <p:ext uri="{BB962C8B-B14F-4D97-AF65-F5344CB8AC3E}">
        <p14:creationId xmlns:p14="http://schemas.microsoft.com/office/powerpoint/2010/main" val="86724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A781E6-CBC9-A19D-B051-926781F579C3}"/>
              </a:ext>
            </a:extLst>
          </p:cNvPr>
          <p:cNvSpPr>
            <a:spLocks noGrp="1"/>
          </p:cNvSpPr>
          <p:nvPr>
            <p:ph type="title"/>
          </p:nvPr>
        </p:nvSpPr>
        <p:spPr/>
        <p:txBody>
          <a:bodyPr>
            <a:normAutofit/>
          </a:bodyPr>
          <a:lstStyle/>
          <a:p>
            <a:r>
              <a:rPr lang="ja-JP" altLang="en-US" sz="4000" dirty="0"/>
              <a:t>コンテキスト</a:t>
            </a:r>
            <a:r>
              <a:rPr kumimoji="1" lang="ja-JP" altLang="en-US" sz="4000" dirty="0"/>
              <a:t>推定結果</a:t>
            </a:r>
          </a:p>
        </p:txBody>
      </p:sp>
      <p:graphicFrame>
        <p:nvGraphicFramePr>
          <p:cNvPr id="6" name="表 5">
            <a:extLst>
              <a:ext uri="{FF2B5EF4-FFF2-40B4-BE49-F238E27FC236}">
                <a16:creationId xmlns:a16="http://schemas.microsoft.com/office/drawing/2014/main" id="{9916B25F-E923-2FC5-CBF4-C7F8141E76A5}"/>
              </a:ext>
            </a:extLst>
          </p:cNvPr>
          <p:cNvGraphicFramePr>
            <a:graphicFrameLocks noGrp="1"/>
          </p:cNvGraphicFramePr>
          <p:nvPr>
            <p:extLst>
              <p:ext uri="{D42A27DB-BD31-4B8C-83A1-F6EECF244321}">
                <p14:modId xmlns:p14="http://schemas.microsoft.com/office/powerpoint/2010/main" val="1092283378"/>
              </p:ext>
            </p:extLst>
          </p:nvPr>
        </p:nvGraphicFramePr>
        <p:xfrm>
          <a:off x="746288" y="1690688"/>
          <a:ext cx="10699423" cy="4004420"/>
        </p:xfrm>
        <a:graphic>
          <a:graphicData uri="http://schemas.openxmlformats.org/drawingml/2006/table">
            <a:tbl>
              <a:tblPr>
                <a:tableStyleId>{616DA210-FB5B-4158-B5E0-FEB733F419BA}</a:tableStyleId>
              </a:tblPr>
              <a:tblGrid>
                <a:gridCol w="1687397">
                  <a:extLst>
                    <a:ext uri="{9D8B030D-6E8A-4147-A177-3AD203B41FA5}">
                      <a16:colId xmlns:a16="http://schemas.microsoft.com/office/drawing/2014/main" val="541521674"/>
                    </a:ext>
                  </a:extLst>
                </a:gridCol>
                <a:gridCol w="2507530">
                  <a:extLst>
                    <a:ext uri="{9D8B030D-6E8A-4147-A177-3AD203B41FA5}">
                      <a16:colId xmlns:a16="http://schemas.microsoft.com/office/drawing/2014/main" val="745309285"/>
                    </a:ext>
                  </a:extLst>
                </a:gridCol>
                <a:gridCol w="2026763">
                  <a:extLst>
                    <a:ext uri="{9D8B030D-6E8A-4147-A177-3AD203B41FA5}">
                      <a16:colId xmlns:a16="http://schemas.microsoft.com/office/drawing/2014/main" val="646988489"/>
                    </a:ext>
                  </a:extLst>
                </a:gridCol>
                <a:gridCol w="2007909">
                  <a:extLst>
                    <a:ext uri="{9D8B030D-6E8A-4147-A177-3AD203B41FA5}">
                      <a16:colId xmlns:a16="http://schemas.microsoft.com/office/drawing/2014/main" val="665576494"/>
                    </a:ext>
                  </a:extLst>
                </a:gridCol>
                <a:gridCol w="2469824">
                  <a:extLst>
                    <a:ext uri="{9D8B030D-6E8A-4147-A177-3AD203B41FA5}">
                      <a16:colId xmlns:a16="http://schemas.microsoft.com/office/drawing/2014/main" val="3739454356"/>
                    </a:ext>
                  </a:extLst>
                </a:gridCol>
              </a:tblGrid>
              <a:tr h="400442">
                <a:tc>
                  <a:txBody>
                    <a:bodyPr/>
                    <a:lstStyle/>
                    <a:p>
                      <a:pPr algn="ctr" fontAlgn="ctr">
                        <a:buNone/>
                      </a:pPr>
                      <a:r>
                        <a:rPr lang="ja-JP" altLang="en-US" sz="2400" u="none" strike="noStrike" dirty="0">
                          <a:effectLst/>
                        </a:rPr>
                        <a:t>被験者</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solidFill>
                      <a:schemeClr val="bg2">
                        <a:lumMod val="90000"/>
                      </a:schemeClr>
                    </a:solidFill>
                  </a:tcPr>
                </a:tc>
                <a:tc>
                  <a:txBody>
                    <a:bodyPr/>
                    <a:lstStyle/>
                    <a:p>
                      <a:pPr algn="ctr" fontAlgn="ctr">
                        <a:buNone/>
                      </a:pPr>
                      <a:r>
                        <a:rPr lang="ja-JP" altLang="en-US" sz="2400" u="none" strike="noStrike">
                          <a:effectLst/>
                        </a:rPr>
                        <a:t>同期後データ点</a:t>
                      </a:r>
                      <a:endParaRPr lang="ja-JP" altLang="en-US" sz="24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solidFill>
                      <a:schemeClr val="bg2">
                        <a:lumMod val="90000"/>
                      </a:schemeClr>
                    </a:solidFill>
                  </a:tcPr>
                </a:tc>
                <a:tc>
                  <a:txBody>
                    <a:bodyPr/>
                    <a:lstStyle/>
                    <a:p>
                      <a:pPr algn="ctr" fontAlgn="ctr">
                        <a:buNone/>
                      </a:pPr>
                      <a:r>
                        <a:rPr lang="ja-JP" altLang="en-US" sz="2400" u="none" strike="noStrike">
                          <a:effectLst/>
                        </a:rPr>
                        <a:t>行為正解率</a:t>
                      </a:r>
                      <a:endParaRPr lang="ja-JP" altLang="en-US" sz="24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solidFill>
                      <a:schemeClr val="bg2">
                        <a:lumMod val="90000"/>
                      </a:schemeClr>
                    </a:solidFill>
                  </a:tcPr>
                </a:tc>
                <a:tc>
                  <a:txBody>
                    <a:bodyPr/>
                    <a:lstStyle/>
                    <a:p>
                      <a:pPr algn="ctr" fontAlgn="ctr">
                        <a:buNone/>
                      </a:pPr>
                      <a:r>
                        <a:rPr lang="ja-JP" altLang="en-US" sz="2400" u="none" strike="noStrike">
                          <a:effectLst/>
                        </a:rPr>
                        <a:t>位置正解率</a:t>
                      </a:r>
                      <a:endParaRPr lang="ja-JP" altLang="en-US" sz="24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solidFill>
                      <a:schemeClr val="bg2">
                        <a:lumMod val="90000"/>
                      </a:schemeClr>
                    </a:solidFill>
                  </a:tcPr>
                </a:tc>
                <a:tc>
                  <a:txBody>
                    <a:bodyPr/>
                    <a:lstStyle/>
                    <a:p>
                      <a:pPr algn="ctr" fontAlgn="ctr">
                        <a:buNone/>
                      </a:pPr>
                      <a:r>
                        <a:rPr lang="ja-JP" altLang="en-US" sz="2400" u="none" strike="noStrike" dirty="0">
                          <a:effectLst/>
                        </a:rPr>
                        <a:t>コンテキスト精度</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solidFill>
                      <a:schemeClr val="bg2">
                        <a:lumMod val="90000"/>
                      </a:schemeClr>
                    </a:solidFill>
                  </a:tcPr>
                </a:tc>
                <a:extLst>
                  <a:ext uri="{0D108BD9-81ED-4DB2-BD59-A6C34878D82A}">
                    <a16:rowId xmlns:a16="http://schemas.microsoft.com/office/drawing/2014/main" val="2571717881"/>
                  </a:ext>
                </a:extLst>
              </a:tr>
              <a:tr h="400442">
                <a:tc>
                  <a:txBody>
                    <a:bodyPr/>
                    <a:lstStyle/>
                    <a:p>
                      <a:pPr algn="ctr" fontAlgn="ctr">
                        <a:buNone/>
                      </a:pPr>
                      <a:r>
                        <a:rPr lang="ja-JP" altLang="en-US" sz="2400" u="none" strike="noStrike">
                          <a:effectLst/>
                        </a:rPr>
                        <a:t>被験者</a:t>
                      </a:r>
                      <a:r>
                        <a:rPr lang="en-US" altLang="ja-JP" sz="2400" u="none" strike="noStrike">
                          <a:effectLst/>
                        </a:rPr>
                        <a:t>1</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226</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1" u="none" strike="noStrike" dirty="0">
                          <a:effectLst/>
                        </a:rPr>
                        <a:t>0.96</a:t>
                      </a:r>
                      <a:endParaRPr lang="en-US" altLang="ja-JP"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0.916</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dirty="0">
                          <a:effectLst/>
                        </a:rPr>
                        <a:t>0.881</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2934690936"/>
                  </a:ext>
                </a:extLst>
              </a:tr>
              <a:tr h="400442">
                <a:tc>
                  <a:txBody>
                    <a:bodyPr/>
                    <a:lstStyle/>
                    <a:p>
                      <a:pPr algn="ctr" fontAlgn="ctr">
                        <a:buNone/>
                      </a:pPr>
                      <a:r>
                        <a:rPr lang="ja-JP" altLang="en-US" sz="2400" u="none" strike="noStrike">
                          <a:effectLst/>
                        </a:rPr>
                        <a:t>被験者</a:t>
                      </a:r>
                      <a:r>
                        <a:rPr lang="en-US" altLang="ja-JP" sz="2400" u="none" strike="noStrike">
                          <a:effectLst/>
                        </a:rPr>
                        <a:t>2</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213</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0.831</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0.85</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0.681</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4109601438"/>
                  </a:ext>
                </a:extLst>
              </a:tr>
              <a:tr h="400442">
                <a:tc>
                  <a:txBody>
                    <a:bodyPr/>
                    <a:lstStyle/>
                    <a:p>
                      <a:pPr algn="ctr" fontAlgn="ctr">
                        <a:buNone/>
                      </a:pPr>
                      <a:r>
                        <a:rPr lang="ja-JP" altLang="en-US" sz="2400" u="none" strike="noStrike">
                          <a:effectLst/>
                        </a:rPr>
                        <a:t>被験者</a:t>
                      </a:r>
                      <a:r>
                        <a:rPr lang="en-US" altLang="ja-JP" sz="2400" u="none" strike="noStrike">
                          <a:effectLst/>
                        </a:rPr>
                        <a:t>3</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241</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0.946</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1" u="none" strike="noStrike" dirty="0">
                          <a:effectLst/>
                        </a:rPr>
                        <a:t>0.959</a:t>
                      </a:r>
                      <a:endParaRPr lang="en-US" altLang="ja-JP"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1" u="none" strike="noStrike" dirty="0">
                          <a:effectLst/>
                        </a:rPr>
                        <a:t>0.905</a:t>
                      </a:r>
                      <a:endParaRPr lang="en-US" altLang="ja-JP"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983666072"/>
                  </a:ext>
                </a:extLst>
              </a:tr>
              <a:tr h="400442">
                <a:tc>
                  <a:txBody>
                    <a:bodyPr/>
                    <a:lstStyle/>
                    <a:p>
                      <a:pPr algn="ctr" fontAlgn="ctr">
                        <a:buNone/>
                      </a:pPr>
                      <a:r>
                        <a:rPr lang="ja-JP" altLang="en-US" sz="2400" u="none" strike="noStrike">
                          <a:effectLst/>
                        </a:rPr>
                        <a:t>被験者</a:t>
                      </a:r>
                      <a:r>
                        <a:rPr lang="en-US" altLang="ja-JP" sz="2400" u="none" strike="noStrike">
                          <a:effectLst/>
                        </a:rPr>
                        <a:t>4</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236</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0" u="none" strike="noStrike">
                          <a:solidFill>
                            <a:schemeClr val="tx1"/>
                          </a:solidFill>
                          <a:effectLst/>
                        </a:rPr>
                        <a:t>0.809</a:t>
                      </a:r>
                      <a:endParaRPr lang="en-US" altLang="ja-JP" sz="2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0.919</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0" u="none" strike="noStrike">
                          <a:solidFill>
                            <a:schemeClr val="tx1"/>
                          </a:solidFill>
                          <a:effectLst/>
                        </a:rPr>
                        <a:t>0.729</a:t>
                      </a:r>
                      <a:endParaRPr lang="en-US" altLang="ja-JP" sz="2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1996158256"/>
                  </a:ext>
                </a:extLst>
              </a:tr>
              <a:tr h="400442">
                <a:tc>
                  <a:txBody>
                    <a:bodyPr/>
                    <a:lstStyle/>
                    <a:p>
                      <a:pPr algn="ctr" fontAlgn="ctr">
                        <a:buNone/>
                      </a:pPr>
                      <a:r>
                        <a:rPr lang="ja-JP" altLang="en-US" sz="2400" u="none" strike="noStrike">
                          <a:effectLst/>
                        </a:rPr>
                        <a:t>被験者</a:t>
                      </a:r>
                      <a:r>
                        <a:rPr lang="en-US" altLang="ja-JP" sz="2400" u="none" strike="noStrike">
                          <a:effectLst/>
                        </a:rPr>
                        <a:t>5</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222</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0.887</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dirty="0">
                          <a:effectLst/>
                        </a:rPr>
                        <a:t>0.838</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0.748</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2974947066"/>
                  </a:ext>
                </a:extLst>
              </a:tr>
              <a:tr h="400442">
                <a:tc>
                  <a:txBody>
                    <a:bodyPr/>
                    <a:lstStyle/>
                    <a:p>
                      <a:pPr algn="ctr" fontAlgn="ctr">
                        <a:buNone/>
                      </a:pPr>
                      <a:r>
                        <a:rPr lang="ja-JP" altLang="en-US" sz="2400" u="none" strike="noStrike">
                          <a:effectLst/>
                        </a:rPr>
                        <a:t>被験者</a:t>
                      </a:r>
                      <a:r>
                        <a:rPr lang="en-US" altLang="ja-JP" sz="2400" u="none" strike="noStrike">
                          <a:effectLst/>
                        </a:rPr>
                        <a:t>6</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279</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1" u="none" strike="noStrike">
                          <a:solidFill>
                            <a:schemeClr val="accent1"/>
                          </a:solidFill>
                          <a:effectLst/>
                        </a:rPr>
                        <a:t>0.796</a:t>
                      </a:r>
                      <a:endParaRPr lang="en-US" altLang="ja-JP" sz="2400" b="1" i="0" u="none" strike="noStrike" dirty="0">
                        <a:solidFill>
                          <a:schemeClr val="accent1"/>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0.824</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1" u="none" strike="noStrike">
                          <a:solidFill>
                            <a:schemeClr val="accent1"/>
                          </a:solidFill>
                          <a:effectLst/>
                        </a:rPr>
                        <a:t>0.652</a:t>
                      </a:r>
                      <a:endParaRPr lang="en-US" altLang="ja-JP" sz="2400" b="1" i="0" u="none" strike="noStrike" dirty="0">
                        <a:solidFill>
                          <a:schemeClr val="accent1"/>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4117527564"/>
                  </a:ext>
                </a:extLst>
              </a:tr>
              <a:tr h="400442">
                <a:tc>
                  <a:txBody>
                    <a:bodyPr/>
                    <a:lstStyle/>
                    <a:p>
                      <a:pPr algn="ctr" fontAlgn="ctr">
                        <a:buNone/>
                      </a:pPr>
                      <a:r>
                        <a:rPr lang="ja-JP" altLang="en-US" sz="2400" u="none" strike="noStrike">
                          <a:effectLst/>
                        </a:rPr>
                        <a:t>被験者</a:t>
                      </a:r>
                      <a:r>
                        <a:rPr lang="en-US" altLang="ja-JP" sz="2400" u="none" strike="noStrike">
                          <a:effectLst/>
                        </a:rPr>
                        <a:t>7</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198</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a:effectLst/>
                        </a:rPr>
                        <a:t>0.864</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b="1" u="none" strike="noStrike">
                          <a:solidFill>
                            <a:schemeClr val="accent1"/>
                          </a:solidFill>
                          <a:effectLst/>
                        </a:rPr>
                        <a:t>0.813</a:t>
                      </a:r>
                      <a:endParaRPr lang="en-US" altLang="ja-JP" sz="2400" b="1" i="0" u="none" strike="noStrike" dirty="0">
                        <a:solidFill>
                          <a:schemeClr val="accent1"/>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r" fontAlgn="ctr">
                        <a:buNone/>
                      </a:pPr>
                      <a:r>
                        <a:rPr lang="en-US" altLang="ja-JP" sz="2400" u="none" strike="noStrike" dirty="0">
                          <a:effectLst/>
                        </a:rPr>
                        <a:t>0.682</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500792912"/>
                  </a:ext>
                </a:extLst>
              </a:tr>
              <a:tr h="400442">
                <a:tc>
                  <a:txBody>
                    <a:bodyPr/>
                    <a:lstStyle/>
                    <a:p>
                      <a:pPr algn="ctr" fontAlgn="ctr">
                        <a:buNone/>
                      </a:pPr>
                      <a:r>
                        <a:rPr lang="ja-JP" altLang="en-US" sz="2400" u="none" strike="noStrike">
                          <a:effectLst/>
                        </a:rPr>
                        <a:t>被験者</a:t>
                      </a:r>
                      <a:r>
                        <a:rPr lang="en-US" altLang="ja-JP" sz="2400" u="none" strike="noStrike">
                          <a:effectLst/>
                        </a:rPr>
                        <a:t>8</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r" fontAlgn="ctr">
                        <a:buNone/>
                      </a:pPr>
                      <a:r>
                        <a:rPr lang="en-US" altLang="ja-JP" sz="2400" u="none" strike="noStrike">
                          <a:effectLst/>
                        </a:rPr>
                        <a:t>255</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r" fontAlgn="ctr">
                        <a:buNone/>
                      </a:pPr>
                      <a:r>
                        <a:rPr lang="en-US" altLang="ja-JP" sz="2400" u="none" strike="noStrike">
                          <a:effectLst/>
                        </a:rPr>
                        <a:t>0.898</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r" fontAlgn="ctr">
                        <a:buNone/>
                      </a:pPr>
                      <a:r>
                        <a:rPr lang="en-US" altLang="ja-JP" sz="2400" u="none" strike="noStrike">
                          <a:effectLst/>
                        </a:rPr>
                        <a:t>0.843</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r" fontAlgn="ctr">
                        <a:buNone/>
                      </a:pPr>
                      <a:r>
                        <a:rPr lang="en-US" altLang="ja-JP" sz="2400" u="none" strike="noStrike">
                          <a:effectLst/>
                        </a:rPr>
                        <a:t>0.749</a:t>
                      </a:r>
                      <a:endParaRPr lang="en-US" alt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9440992"/>
                  </a:ext>
                </a:extLst>
              </a:tr>
              <a:tr h="400442">
                <a:tc>
                  <a:txBody>
                    <a:bodyPr/>
                    <a:lstStyle/>
                    <a:p>
                      <a:pPr algn="ctr" fontAlgn="ctr">
                        <a:buNone/>
                      </a:pPr>
                      <a:r>
                        <a:rPr lang="ja-JP" altLang="en-US" sz="2400" u="none" strike="noStrike" dirty="0">
                          <a:effectLst/>
                        </a:rPr>
                        <a:t>平均</a:t>
                      </a:r>
                      <a:endParaRPr lang="ja-JP" altLang="en-US"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algn="r" fontAlgn="ctr">
                        <a:buNone/>
                      </a:pPr>
                      <a:r>
                        <a:rPr lang="en-US" altLang="ja-JP" sz="2400" u="none" strike="noStrike" dirty="0">
                          <a:effectLst/>
                        </a:rPr>
                        <a:t>233.75</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algn="r" fontAlgn="ctr">
                        <a:buNone/>
                      </a:pPr>
                      <a:r>
                        <a:rPr lang="en-US" altLang="ja-JP" sz="2400" u="none" strike="noStrike" dirty="0">
                          <a:effectLst/>
                        </a:rPr>
                        <a:t>0.874</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algn="r" fontAlgn="ctr">
                        <a:buNone/>
                      </a:pPr>
                      <a:r>
                        <a:rPr lang="en-US" altLang="ja-JP" sz="2400" u="none" strike="noStrike" dirty="0">
                          <a:effectLst/>
                        </a:rPr>
                        <a:t>0.87</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algn="r" fontAlgn="ctr">
                        <a:buNone/>
                      </a:pPr>
                      <a:r>
                        <a:rPr lang="en-US" altLang="ja-JP" sz="2400" u="none" strike="noStrike" dirty="0">
                          <a:effectLst/>
                        </a:rPr>
                        <a:t>0.753</a:t>
                      </a:r>
                      <a:endParaRPr lang="en-US" alt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1900783254"/>
                  </a:ext>
                </a:extLst>
              </a:tr>
            </a:tbl>
          </a:graphicData>
        </a:graphic>
      </p:graphicFrame>
      <p:sp>
        <p:nvSpPr>
          <p:cNvPr id="5" name="テキスト ボックス 4">
            <a:extLst>
              <a:ext uri="{FF2B5EF4-FFF2-40B4-BE49-F238E27FC236}">
                <a16:creationId xmlns:a16="http://schemas.microsoft.com/office/drawing/2014/main" id="{CB5C5743-3D22-C646-1D53-D8DAAFEEBDD5}"/>
              </a:ext>
            </a:extLst>
          </p:cNvPr>
          <p:cNvSpPr txBox="1"/>
          <p:nvPr/>
        </p:nvSpPr>
        <p:spPr>
          <a:xfrm>
            <a:off x="8090704" y="5984111"/>
            <a:ext cx="3148314" cy="707886"/>
          </a:xfrm>
          <a:prstGeom prst="rect">
            <a:avLst/>
          </a:prstGeom>
          <a:solidFill>
            <a:srgbClr val="FF0000"/>
          </a:solidFill>
        </p:spPr>
        <p:txBody>
          <a:bodyPr wrap="square" rtlCol="0">
            <a:spAutoFit/>
          </a:bodyPr>
          <a:lstStyle/>
          <a:p>
            <a:r>
              <a:rPr kumimoji="1" lang="ja-JP" altLang="en-US" sz="2000" dirty="0">
                <a:ln>
                  <a:solidFill>
                    <a:schemeClr val="bg1"/>
                  </a:solidFill>
                </a:ln>
                <a:solidFill>
                  <a:schemeClr val="bg1"/>
                </a:solidFill>
              </a:rPr>
              <a:t>行為は個人差が影響</a:t>
            </a:r>
            <a:endParaRPr kumimoji="1" lang="en-US" altLang="ja-JP" sz="2000" dirty="0">
              <a:ln>
                <a:solidFill>
                  <a:schemeClr val="bg1"/>
                </a:solidFill>
              </a:ln>
              <a:solidFill>
                <a:schemeClr val="bg1"/>
              </a:solidFill>
            </a:endParaRPr>
          </a:p>
          <a:p>
            <a:r>
              <a:rPr kumimoji="1" lang="ja-JP" altLang="en-US" sz="2000" dirty="0">
                <a:ln>
                  <a:solidFill>
                    <a:schemeClr val="bg1"/>
                  </a:solidFill>
                </a:ln>
                <a:solidFill>
                  <a:schemeClr val="bg1"/>
                </a:solidFill>
              </a:rPr>
              <a:t>位置はデータ品質が影響</a:t>
            </a:r>
          </a:p>
        </p:txBody>
      </p:sp>
    </p:spTree>
    <p:extLst>
      <p:ext uri="{BB962C8B-B14F-4D97-AF65-F5344CB8AC3E}">
        <p14:creationId xmlns:p14="http://schemas.microsoft.com/office/powerpoint/2010/main" val="3396982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70A7A8-F6AE-2DE8-A608-724582B5CDF9}"/>
              </a:ext>
            </a:extLst>
          </p:cNvPr>
          <p:cNvSpPr>
            <a:spLocks noGrp="1"/>
          </p:cNvSpPr>
          <p:nvPr>
            <p:ph type="title"/>
          </p:nvPr>
        </p:nvSpPr>
        <p:spPr/>
        <p:txBody>
          <a:bodyPr/>
          <a:lstStyle/>
          <a:p>
            <a:r>
              <a:rPr kumimoji="1" lang="ja-JP" altLang="en-US" dirty="0"/>
              <a:t>結論</a:t>
            </a:r>
          </a:p>
        </p:txBody>
      </p:sp>
      <p:sp>
        <p:nvSpPr>
          <p:cNvPr id="3" name="コンテンツ プレースホルダー 2">
            <a:extLst>
              <a:ext uri="{FF2B5EF4-FFF2-40B4-BE49-F238E27FC236}">
                <a16:creationId xmlns:a16="http://schemas.microsoft.com/office/drawing/2014/main" id="{706DEE78-5769-5717-B0CA-CB76E82EFABB}"/>
              </a:ext>
            </a:extLst>
          </p:cNvPr>
          <p:cNvSpPr>
            <a:spLocks noGrp="1"/>
          </p:cNvSpPr>
          <p:nvPr>
            <p:ph idx="1"/>
          </p:nvPr>
        </p:nvSpPr>
        <p:spPr>
          <a:xfrm>
            <a:off x="838200" y="1825625"/>
            <a:ext cx="10515600" cy="4667250"/>
          </a:xfrm>
        </p:spPr>
        <p:txBody>
          <a:bodyPr>
            <a:normAutofit/>
          </a:bodyPr>
          <a:lstStyle/>
          <a:p>
            <a:pPr>
              <a:lnSpc>
                <a:spcPct val="150000"/>
              </a:lnSpc>
            </a:pPr>
            <a:r>
              <a:rPr kumimoji="1" lang="ja-JP" altLang="en-US" sz="2400" dirty="0"/>
              <a:t>時系列クラスタリングの精度は</a:t>
            </a:r>
            <a:r>
              <a:rPr kumimoji="1" lang="en-US" altLang="ja-JP" sz="2400" b="1" dirty="0"/>
              <a:t>0</a:t>
            </a:r>
            <a:r>
              <a:rPr lang="en-US" altLang="ja-JP" sz="2400" b="1" dirty="0"/>
              <a:t>.893</a:t>
            </a:r>
            <a:r>
              <a:rPr kumimoji="1" lang="ja-JP" altLang="en-US" sz="2400" dirty="0"/>
              <a:t>だった</a:t>
            </a:r>
            <a:endParaRPr kumimoji="1" lang="en-US" altLang="ja-JP" sz="2400" dirty="0"/>
          </a:p>
          <a:p>
            <a:pPr>
              <a:lnSpc>
                <a:spcPct val="150000"/>
              </a:lnSpc>
            </a:pPr>
            <a:r>
              <a:rPr lang="ja-JP" altLang="en-US" sz="2400" dirty="0"/>
              <a:t>行動に合わせた特徴量設計が必要</a:t>
            </a:r>
            <a:endParaRPr kumimoji="1" lang="en-US" altLang="ja-JP" sz="2400" dirty="0"/>
          </a:p>
          <a:p>
            <a:pPr>
              <a:lnSpc>
                <a:spcPct val="150000"/>
              </a:lnSpc>
            </a:pPr>
            <a:r>
              <a:rPr kumimoji="1" lang="ja-JP" altLang="en-US" sz="2400" dirty="0"/>
              <a:t>エッジ</a:t>
            </a:r>
            <a:r>
              <a:rPr kumimoji="1" lang="en-US" altLang="ja-JP" sz="2400" dirty="0"/>
              <a:t>AI</a:t>
            </a:r>
            <a:r>
              <a:rPr kumimoji="1" lang="ja-JP" altLang="en-US" sz="2400" dirty="0"/>
              <a:t>分類では、</a:t>
            </a:r>
            <a:r>
              <a:rPr lang="ja-JP" altLang="en-US" sz="2400" dirty="0"/>
              <a:t>正解率</a:t>
            </a:r>
            <a:r>
              <a:rPr kumimoji="1" lang="en-US" altLang="ja-JP" sz="2400" b="1" dirty="0"/>
              <a:t>0.</a:t>
            </a:r>
            <a:r>
              <a:rPr lang="en-US" altLang="ja-JP" sz="2400" b="1" dirty="0"/>
              <a:t>874</a:t>
            </a:r>
          </a:p>
          <a:p>
            <a:pPr>
              <a:lnSpc>
                <a:spcPct val="150000"/>
              </a:lnSpc>
            </a:pPr>
            <a:r>
              <a:rPr lang="ja-JP" altLang="en-US" sz="2400" dirty="0"/>
              <a:t>疑似ラベルの活用が可能</a:t>
            </a:r>
            <a:endParaRPr lang="en-US" altLang="ja-JP" sz="2400" dirty="0"/>
          </a:p>
          <a:p>
            <a:pPr>
              <a:lnSpc>
                <a:spcPct val="150000"/>
              </a:lnSpc>
            </a:pPr>
            <a:r>
              <a:rPr kumimoji="1" lang="ja-JP" altLang="en-US" sz="2400" dirty="0"/>
              <a:t>平滑化ありの位置推定は</a:t>
            </a:r>
            <a:r>
              <a:rPr kumimoji="1" lang="en-US" altLang="ja-JP" sz="2400" b="1" dirty="0"/>
              <a:t>0.87</a:t>
            </a:r>
          </a:p>
          <a:p>
            <a:pPr>
              <a:lnSpc>
                <a:spcPct val="150000"/>
              </a:lnSpc>
            </a:pPr>
            <a:r>
              <a:rPr lang="ja-JP" altLang="en-US" sz="2400" dirty="0"/>
              <a:t>被験者平均のコンテキスト精度は </a:t>
            </a:r>
            <a:r>
              <a:rPr lang="en-US" altLang="ja-JP" sz="2400" b="1" dirty="0"/>
              <a:t>0.753</a:t>
            </a:r>
          </a:p>
          <a:p>
            <a:pPr>
              <a:lnSpc>
                <a:spcPct val="150000"/>
              </a:lnSpc>
            </a:pPr>
            <a:r>
              <a:rPr kumimoji="1" lang="ja-JP" altLang="en-US" sz="2400" dirty="0"/>
              <a:t>精度改善には、行為と位置のそれぞれの工夫が必要</a:t>
            </a:r>
          </a:p>
        </p:txBody>
      </p:sp>
    </p:spTree>
    <p:extLst>
      <p:ext uri="{BB962C8B-B14F-4D97-AF65-F5344CB8AC3E}">
        <p14:creationId xmlns:p14="http://schemas.microsoft.com/office/powerpoint/2010/main" val="844387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2E540A-7205-A950-8936-69361E86F190}"/>
              </a:ext>
            </a:extLst>
          </p:cNvPr>
          <p:cNvSpPr>
            <a:spLocks noGrp="1"/>
          </p:cNvSpPr>
          <p:nvPr>
            <p:ph type="title"/>
          </p:nvPr>
        </p:nvSpPr>
        <p:spPr/>
        <p:txBody>
          <a:bodyPr/>
          <a:lstStyle/>
          <a:p>
            <a:r>
              <a:rPr kumimoji="1" lang="ja-JP" altLang="en-US" dirty="0"/>
              <a:t>提案手法（モデル構築層）</a:t>
            </a:r>
          </a:p>
        </p:txBody>
      </p:sp>
      <p:sp>
        <p:nvSpPr>
          <p:cNvPr id="4" name="コンテンツ プレースホルダー 2">
            <a:extLst>
              <a:ext uri="{FF2B5EF4-FFF2-40B4-BE49-F238E27FC236}">
                <a16:creationId xmlns:a16="http://schemas.microsoft.com/office/drawing/2014/main" id="{25D47D69-9D32-2BDF-177E-19EDA7B42BAC}"/>
              </a:ext>
            </a:extLst>
          </p:cNvPr>
          <p:cNvSpPr txBox="1">
            <a:spLocks/>
          </p:cNvSpPr>
          <p:nvPr/>
        </p:nvSpPr>
        <p:spPr>
          <a:xfrm>
            <a:off x="838200" y="1825625"/>
            <a:ext cx="10515600" cy="4768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buFont typeface="Wingdings" panose="05000000000000000000" pitchFamily="2" charset="2"/>
              <a:buChar char="ü"/>
            </a:pPr>
            <a:r>
              <a:rPr lang="ja-JP" altLang="en-US" sz="2400" b="1" dirty="0"/>
              <a:t>データ取得</a:t>
            </a:r>
            <a:endParaRPr lang="en-US" altLang="ja-JP" sz="2400" b="1" dirty="0"/>
          </a:p>
          <a:p>
            <a:pPr lvl="1">
              <a:lnSpc>
                <a:spcPct val="100000"/>
              </a:lnSpc>
            </a:pPr>
            <a:r>
              <a:rPr lang="en-US" altLang="ja-JP" sz="2000" dirty="0"/>
              <a:t>3</a:t>
            </a:r>
            <a:r>
              <a:rPr lang="ja-JP" altLang="en-US" sz="2000" dirty="0"/>
              <a:t>軸加速度（</a:t>
            </a:r>
            <a:r>
              <a:rPr lang="en-US" altLang="ja-JP" sz="2000" dirty="0"/>
              <a:t>x</a:t>
            </a:r>
            <a:r>
              <a:rPr lang="ja-JP" altLang="en-US" sz="2000" dirty="0"/>
              <a:t>、</a:t>
            </a:r>
            <a:r>
              <a:rPr lang="en-US" altLang="ja-JP" sz="2000" dirty="0"/>
              <a:t>y</a:t>
            </a:r>
            <a:r>
              <a:rPr lang="ja-JP" altLang="en-US" sz="2000" dirty="0"/>
              <a:t>、</a:t>
            </a:r>
            <a:r>
              <a:rPr lang="en-US" altLang="ja-JP" sz="2000" dirty="0"/>
              <a:t>z</a:t>
            </a:r>
            <a:r>
              <a:rPr lang="ja-JP" altLang="en-US" sz="2000" dirty="0"/>
              <a:t>）</a:t>
            </a:r>
            <a:endParaRPr lang="en-US" altLang="ja-JP" sz="2000" dirty="0"/>
          </a:p>
          <a:p>
            <a:pPr lvl="1">
              <a:lnSpc>
                <a:spcPct val="100000"/>
              </a:lnSpc>
            </a:pPr>
            <a:r>
              <a:rPr lang="ja-JP" altLang="en-US" sz="2000" dirty="0"/>
              <a:t>受信品質（</a:t>
            </a:r>
            <a:r>
              <a:rPr lang="en-US" altLang="ja-JP" sz="2000" dirty="0"/>
              <a:t>LQI</a:t>
            </a:r>
            <a:r>
              <a:rPr lang="ja-JP" altLang="en-US" sz="2000" dirty="0"/>
              <a:t>）</a:t>
            </a:r>
            <a:endParaRPr lang="en-US" altLang="ja-JP" sz="2000" dirty="0"/>
          </a:p>
          <a:p>
            <a:pPr marL="457200" lvl="1" indent="0">
              <a:lnSpc>
                <a:spcPct val="100000"/>
              </a:lnSpc>
              <a:buNone/>
            </a:pPr>
            <a:endParaRPr lang="en-US" altLang="ja-JP" sz="2000" dirty="0"/>
          </a:p>
        </p:txBody>
      </p:sp>
      <p:pic>
        <p:nvPicPr>
          <p:cNvPr id="5" name="図 4">
            <a:extLst>
              <a:ext uri="{FF2B5EF4-FFF2-40B4-BE49-F238E27FC236}">
                <a16:creationId xmlns:a16="http://schemas.microsoft.com/office/drawing/2014/main" id="{6389FE7F-3C5E-A080-910A-9C0A2CAA730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064231" y="4439375"/>
            <a:ext cx="3868221" cy="2053500"/>
          </a:xfrm>
          <a:prstGeom prst="rect">
            <a:avLst/>
          </a:prstGeom>
        </p:spPr>
      </p:pic>
      <p:graphicFrame>
        <p:nvGraphicFramePr>
          <p:cNvPr id="3" name="表 2">
            <a:extLst>
              <a:ext uri="{FF2B5EF4-FFF2-40B4-BE49-F238E27FC236}">
                <a16:creationId xmlns:a16="http://schemas.microsoft.com/office/drawing/2014/main" id="{0AC2C8CE-62B6-6BC5-3E85-49948CA4096A}"/>
              </a:ext>
            </a:extLst>
          </p:cNvPr>
          <p:cNvGraphicFramePr>
            <a:graphicFrameLocks noGrp="1"/>
          </p:cNvGraphicFramePr>
          <p:nvPr>
            <p:extLst>
              <p:ext uri="{D42A27DB-BD31-4B8C-83A1-F6EECF244321}">
                <p14:modId xmlns:p14="http://schemas.microsoft.com/office/powerpoint/2010/main" val="3603855856"/>
              </p:ext>
            </p:extLst>
          </p:nvPr>
        </p:nvGraphicFramePr>
        <p:xfrm>
          <a:off x="6215865" y="1934384"/>
          <a:ext cx="5578867" cy="2166150"/>
        </p:xfrm>
        <a:graphic>
          <a:graphicData uri="http://schemas.openxmlformats.org/drawingml/2006/table">
            <a:tbl>
              <a:tblPr>
                <a:tableStyleId>{8799B23B-EC83-4686-B30A-512413B5E67A}</a:tableStyleId>
              </a:tblPr>
              <a:tblGrid>
                <a:gridCol w="2742809">
                  <a:extLst>
                    <a:ext uri="{9D8B030D-6E8A-4147-A177-3AD203B41FA5}">
                      <a16:colId xmlns:a16="http://schemas.microsoft.com/office/drawing/2014/main" val="1214733546"/>
                    </a:ext>
                  </a:extLst>
                </a:gridCol>
                <a:gridCol w="2836058">
                  <a:extLst>
                    <a:ext uri="{9D8B030D-6E8A-4147-A177-3AD203B41FA5}">
                      <a16:colId xmlns:a16="http://schemas.microsoft.com/office/drawing/2014/main" val="2143284981"/>
                    </a:ext>
                  </a:extLst>
                </a:gridCol>
              </a:tblGrid>
              <a:tr h="309450">
                <a:tc>
                  <a:txBody>
                    <a:bodyPr/>
                    <a:lstStyle/>
                    <a:p>
                      <a:pPr algn="ctr" fontAlgn="ctr">
                        <a:buNone/>
                      </a:pP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加速度データ</a:t>
                      </a:r>
                    </a:p>
                  </a:txBody>
                  <a:tcPr marL="2121" marR="2121" marT="2121" marB="0" anchor="ctr">
                    <a:solidFill>
                      <a:schemeClr val="bg2">
                        <a:lumMod val="90000"/>
                      </a:schemeClr>
                    </a:solidFill>
                  </a:tcPr>
                </a:tc>
                <a:tc>
                  <a:txBody>
                    <a:bodyPr/>
                    <a:lstStyle/>
                    <a:p>
                      <a:pPr algn="ctr" fontAlgn="ctr">
                        <a:buNone/>
                      </a:pPr>
                      <a:r>
                        <a:rPr lang="ja-JP" altLang="en-US" sz="1600" b="1" u="none" strike="noStrike" dirty="0">
                          <a:effectLst/>
                        </a:rPr>
                        <a:t>項目</a:t>
                      </a:r>
                      <a:endPar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solidFill>
                      <a:schemeClr val="bg2">
                        <a:lumMod val="90000"/>
                      </a:schemeClr>
                    </a:solidFill>
                  </a:tcPr>
                </a:tc>
                <a:extLst>
                  <a:ext uri="{0D108BD9-81ED-4DB2-BD59-A6C34878D82A}">
                    <a16:rowId xmlns:a16="http://schemas.microsoft.com/office/drawing/2014/main" val="3797559119"/>
                  </a:ext>
                </a:extLst>
              </a:tr>
              <a:tr h="309450">
                <a:tc>
                  <a:txBody>
                    <a:bodyPr/>
                    <a:lstStyle/>
                    <a:p>
                      <a:pPr algn="ctr" fontAlgn="ctr">
                        <a:buNone/>
                      </a:pPr>
                      <a:r>
                        <a:rPr lang="ja-JP" altLang="en-US" sz="1600" u="none" strike="noStrike" dirty="0">
                          <a:effectLst/>
                        </a:rPr>
                        <a:t>基本系列</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tc>
                  <a:txBody>
                    <a:bodyPr/>
                    <a:lstStyle/>
                    <a:p>
                      <a:pPr algn="ctr" fontAlgn="ctr">
                        <a:buNone/>
                      </a:pPr>
                      <a:r>
                        <a:rPr lang="ja-JP" altLang="en-US" sz="1600" u="none" strike="noStrike" dirty="0">
                          <a:effectLst/>
                        </a:rPr>
                        <a:t>三軸加速度（</a:t>
                      </a:r>
                      <a:r>
                        <a:rPr lang="en-US" sz="1600" u="none" strike="noStrike" dirty="0">
                          <a:effectLst/>
                        </a:rPr>
                        <a:t>x, y, z）</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extLst>
                  <a:ext uri="{0D108BD9-81ED-4DB2-BD59-A6C34878D82A}">
                    <a16:rowId xmlns:a16="http://schemas.microsoft.com/office/drawing/2014/main" val="3908118136"/>
                  </a:ext>
                </a:extLst>
              </a:tr>
              <a:tr h="309450">
                <a:tc>
                  <a:txBody>
                    <a:bodyPr/>
                    <a:lstStyle/>
                    <a:p>
                      <a:pPr algn="ctr" fontAlgn="ctr">
                        <a:buNone/>
                      </a:pPr>
                      <a:r>
                        <a:rPr lang="ja-JP" altLang="en-US" sz="1600" u="none" strike="noStrike" dirty="0">
                          <a:effectLst/>
                        </a:rPr>
                        <a:t>基本系列</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tc>
                  <a:txBody>
                    <a:bodyPr/>
                    <a:lstStyle/>
                    <a:p>
                      <a:pPr algn="ctr" fontAlgn="ctr">
                        <a:buNone/>
                      </a:pPr>
                      <a:r>
                        <a:rPr lang="ja-JP" altLang="en-US" sz="1600" u="none" strike="noStrike">
                          <a:effectLst/>
                        </a:rPr>
                        <a:t>ノルム量（加速度合成）</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extLst>
                  <a:ext uri="{0D108BD9-81ED-4DB2-BD59-A6C34878D82A}">
                    <a16:rowId xmlns:a16="http://schemas.microsoft.com/office/drawing/2014/main" val="699208213"/>
                  </a:ext>
                </a:extLst>
              </a:tr>
              <a:tr h="309450">
                <a:tc>
                  <a:txBody>
                    <a:bodyPr/>
                    <a:lstStyle/>
                    <a:p>
                      <a:pPr algn="ctr" fontAlgn="ctr">
                        <a:buNone/>
                      </a:pPr>
                      <a:r>
                        <a:rPr lang="ja-JP" altLang="en-US" sz="1600" u="none" strike="noStrike" dirty="0">
                          <a:effectLst/>
                        </a:rPr>
                        <a:t>時系列変換</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tc>
                  <a:txBody>
                    <a:bodyPr/>
                    <a:lstStyle/>
                    <a:p>
                      <a:pPr algn="ctr" fontAlgn="ctr">
                        <a:buNone/>
                      </a:pPr>
                      <a:r>
                        <a:rPr lang="ja-JP" altLang="en-US" sz="1600" u="none" strike="noStrike" dirty="0">
                          <a:effectLst/>
                        </a:rPr>
                        <a:t>一次差分</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extLst>
                  <a:ext uri="{0D108BD9-81ED-4DB2-BD59-A6C34878D82A}">
                    <a16:rowId xmlns:a16="http://schemas.microsoft.com/office/drawing/2014/main" val="423084139"/>
                  </a:ext>
                </a:extLst>
              </a:tr>
              <a:tr h="309450">
                <a:tc>
                  <a:txBody>
                    <a:bodyPr/>
                    <a:lstStyle/>
                    <a:p>
                      <a:pPr algn="ctr" fontAlgn="ctr">
                        <a:buNone/>
                      </a:pPr>
                      <a:r>
                        <a:rPr lang="ja-JP" altLang="en-US" sz="1600" u="none" strike="noStrike" dirty="0">
                          <a:effectLst/>
                        </a:rPr>
                        <a:t>ウィンドウ特徴</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tc>
                  <a:txBody>
                    <a:bodyPr/>
                    <a:lstStyle/>
                    <a:p>
                      <a:pPr algn="ctr" fontAlgn="ctr">
                        <a:buNone/>
                      </a:pPr>
                      <a:r>
                        <a:rPr lang="ja-JP" altLang="en-US" sz="1600" u="none" strike="noStrike" dirty="0">
                          <a:effectLst/>
                        </a:rPr>
                        <a:t>平均</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extLst>
                  <a:ext uri="{0D108BD9-81ED-4DB2-BD59-A6C34878D82A}">
                    <a16:rowId xmlns:a16="http://schemas.microsoft.com/office/drawing/2014/main" val="3066544764"/>
                  </a:ext>
                </a:extLst>
              </a:tr>
              <a:tr h="309450">
                <a:tc>
                  <a:txBody>
                    <a:bodyPr/>
                    <a:lstStyle/>
                    <a:p>
                      <a:pPr algn="ctr" fontAlgn="ctr">
                        <a:buNone/>
                      </a:pPr>
                      <a:r>
                        <a:rPr lang="ja-JP" altLang="en-US" sz="1600" u="none" strike="noStrike" dirty="0">
                          <a:effectLst/>
                        </a:rPr>
                        <a:t>ウィンドウ特徴</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tc>
                  <a:txBody>
                    <a:bodyPr/>
                    <a:lstStyle/>
                    <a:p>
                      <a:pPr algn="ctr" fontAlgn="ctr">
                        <a:buNone/>
                      </a:pPr>
                      <a:r>
                        <a:rPr lang="ja-JP" altLang="en-US" sz="1600" u="none" strike="noStrike">
                          <a:effectLst/>
                        </a:rPr>
                        <a:t>分散</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extLst>
                  <a:ext uri="{0D108BD9-81ED-4DB2-BD59-A6C34878D82A}">
                    <a16:rowId xmlns:a16="http://schemas.microsoft.com/office/drawing/2014/main" val="2763065369"/>
                  </a:ext>
                </a:extLst>
              </a:tr>
              <a:tr h="309450">
                <a:tc>
                  <a:txBody>
                    <a:bodyPr/>
                    <a:lstStyle/>
                    <a:p>
                      <a:pPr algn="ctr" fontAlgn="ctr">
                        <a:buNone/>
                      </a:pPr>
                      <a:r>
                        <a:rPr lang="ja-JP" altLang="en-US" sz="1600" u="none" strike="noStrike" dirty="0">
                          <a:effectLst/>
                        </a:rPr>
                        <a:t>周波数領域特徴</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tc>
                  <a:txBody>
                    <a:bodyPr/>
                    <a:lstStyle/>
                    <a:p>
                      <a:pPr algn="ctr" fontAlgn="ctr">
                        <a:buNone/>
                      </a:pPr>
                      <a:r>
                        <a:rPr lang="ja-JP" altLang="en-US" sz="1600" u="none" strike="noStrike" dirty="0">
                          <a:effectLst/>
                        </a:rPr>
                        <a:t>周波数帯域別パワー</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2121" marR="2121" marT="2121" marB="0" anchor="ctr"/>
                </a:tc>
                <a:extLst>
                  <a:ext uri="{0D108BD9-81ED-4DB2-BD59-A6C34878D82A}">
                    <a16:rowId xmlns:a16="http://schemas.microsoft.com/office/drawing/2014/main" val="1422404556"/>
                  </a:ext>
                </a:extLst>
              </a:tr>
            </a:tbl>
          </a:graphicData>
        </a:graphic>
      </p:graphicFrame>
      <p:graphicFrame>
        <p:nvGraphicFramePr>
          <p:cNvPr id="6" name="表 5">
            <a:extLst>
              <a:ext uri="{FF2B5EF4-FFF2-40B4-BE49-F238E27FC236}">
                <a16:creationId xmlns:a16="http://schemas.microsoft.com/office/drawing/2014/main" id="{5B71D2B1-4B7E-21C6-0C17-97BCCC4383C1}"/>
              </a:ext>
            </a:extLst>
          </p:cNvPr>
          <p:cNvGraphicFramePr>
            <a:graphicFrameLocks noGrp="1"/>
          </p:cNvGraphicFramePr>
          <p:nvPr>
            <p:extLst>
              <p:ext uri="{D42A27DB-BD31-4B8C-83A1-F6EECF244321}">
                <p14:modId xmlns:p14="http://schemas.microsoft.com/office/powerpoint/2010/main" val="514949088"/>
              </p:ext>
            </p:extLst>
          </p:nvPr>
        </p:nvGraphicFramePr>
        <p:xfrm>
          <a:off x="6215865" y="4439375"/>
          <a:ext cx="5578867" cy="2203397"/>
        </p:xfrm>
        <a:graphic>
          <a:graphicData uri="http://schemas.openxmlformats.org/drawingml/2006/table">
            <a:tbl>
              <a:tblPr>
                <a:tableStyleId>{8799B23B-EC83-4686-B30A-512413B5E67A}</a:tableStyleId>
              </a:tblPr>
              <a:tblGrid>
                <a:gridCol w="2758482">
                  <a:extLst>
                    <a:ext uri="{9D8B030D-6E8A-4147-A177-3AD203B41FA5}">
                      <a16:colId xmlns:a16="http://schemas.microsoft.com/office/drawing/2014/main" val="306818210"/>
                    </a:ext>
                  </a:extLst>
                </a:gridCol>
                <a:gridCol w="2820385">
                  <a:extLst>
                    <a:ext uri="{9D8B030D-6E8A-4147-A177-3AD203B41FA5}">
                      <a16:colId xmlns:a16="http://schemas.microsoft.com/office/drawing/2014/main" val="1943579203"/>
                    </a:ext>
                  </a:extLst>
                </a:gridCol>
              </a:tblGrid>
              <a:tr h="314771">
                <a:tc>
                  <a:txBody>
                    <a:bodyPr/>
                    <a:lstStyle/>
                    <a:p>
                      <a:pPr algn="ctr" fontAlgn="ctr">
                        <a:buNone/>
                      </a:pP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LQI</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データ</a:t>
                      </a:r>
                    </a:p>
                  </a:txBody>
                  <a:tcPr marL="6350" marR="6350" marT="6350" marB="0" anchor="ctr">
                    <a:solidFill>
                      <a:schemeClr val="bg2">
                        <a:lumMod val="90000"/>
                      </a:schemeClr>
                    </a:solidFill>
                  </a:tcPr>
                </a:tc>
                <a:tc>
                  <a:txBody>
                    <a:bodyPr/>
                    <a:lstStyle/>
                    <a:p>
                      <a:pPr algn="ctr" fontAlgn="ctr">
                        <a:buNone/>
                      </a:pPr>
                      <a:r>
                        <a:rPr lang="ja-JP" altLang="en-US" sz="1600" b="1" u="none" strike="noStrike" dirty="0">
                          <a:effectLst/>
                        </a:rPr>
                        <a:t>項目</a:t>
                      </a:r>
                      <a:endPar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solidFill>
                      <a:schemeClr val="bg2">
                        <a:lumMod val="90000"/>
                      </a:schemeClr>
                    </a:solidFill>
                  </a:tcPr>
                </a:tc>
                <a:extLst>
                  <a:ext uri="{0D108BD9-81ED-4DB2-BD59-A6C34878D82A}">
                    <a16:rowId xmlns:a16="http://schemas.microsoft.com/office/drawing/2014/main" val="3347894099"/>
                  </a:ext>
                </a:extLst>
              </a:tr>
              <a:tr h="314771">
                <a:tc>
                  <a:txBody>
                    <a:bodyPr/>
                    <a:lstStyle/>
                    <a:p>
                      <a:pPr algn="ctr" fontAlgn="ctr">
                        <a:buNone/>
                      </a:pPr>
                      <a:r>
                        <a:rPr lang="ja-JP" altLang="en-US" sz="1600" u="none" strike="noStrike">
                          <a:effectLst/>
                        </a:rPr>
                        <a:t>列方向のスケール変換</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en-US" sz="1600" u="none" strike="noStrike" dirty="0">
                          <a:effectLst/>
                        </a:rPr>
                        <a:t>min–max </a:t>
                      </a:r>
                      <a:r>
                        <a:rPr lang="ja-JP" altLang="en-US" sz="1600" u="none" strike="noStrike" dirty="0">
                          <a:effectLst/>
                        </a:rPr>
                        <a:t>正規化</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2810968209"/>
                  </a:ext>
                </a:extLst>
              </a:tr>
              <a:tr h="314771">
                <a:tc>
                  <a:txBody>
                    <a:bodyPr/>
                    <a:lstStyle/>
                    <a:p>
                      <a:pPr algn="ctr" fontAlgn="ctr">
                        <a:buNone/>
                      </a:pPr>
                      <a:r>
                        <a:rPr lang="ja-JP" altLang="en-US" sz="1600" u="none" strike="noStrike">
                          <a:effectLst/>
                        </a:rPr>
                        <a:t>列方向のスケール変換</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en-US" sz="1600" u="none" strike="noStrike" dirty="0">
                          <a:effectLst/>
                        </a:rPr>
                        <a:t>z-score </a:t>
                      </a:r>
                      <a:r>
                        <a:rPr lang="ja-JP" altLang="en-US" sz="1600" u="none" strike="noStrike" dirty="0">
                          <a:effectLst/>
                        </a:rPr>
                        <a:t>正規化</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1964442129"/>
                  </a:ext>
                </a:extLst>
              </a:tr>
              <a:tr h="314771">
                <a:tc>
                  <a:txBody>
                    <a:bodyPr/>
                    <a:lstStyle/>
                    <a:p>
                      <a:pPr algn="ctr" fontAlgn="ctr">
                        <a:buNone/>
                      </a:pPr>
                      <a:r>
                        <a:rPr lang="ja-JP" altLang="en-US" sz="1600" u="none" strike="noStrike">
                          <a:effectLst/>
                        </a:rPr>
                        <a:t>行方向の相対化処理</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u="none" strike="noStrike">
                          <a:effectLst/>
                        </a:rPr>
                        <a:t>比率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346530340"/>
                  </a:ext>
                </a:extLst>
              </a:tr>
              <a:tr h="314771">
                <a:tc>
                  <a:txBody>
                    <a:bodyPr/>
                    <a:lstStyle/>
                    <a:p>
                      <a:pPr algn="ctr" fontAlgn="ctr">
                        <a:buNone/>
                      </a:pPr>
                      <a:r>
                        <a:rPr lang="ja-JP" altLang="en-US" sz="1600" u="none" strike="noStrike">
                          <a:effectLst/>
                        </a:rPr>
                        <a:t>行方向の相対化処理</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u="none" strike="noStrike">
                          <a:effectLst/>
                        </a:rPr>
                        <a:t>順位</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333136457"/>
                  </a:ext>
                </a:extLst>
              </a:tr>
              <a:tr h="314771">
                <a:tc>
                  <a:txBody>
                    <a:bodyPr/>
                    <a:lstStyle/>
                    <a:p>
                      <a:pPr algn="ctr" fontAlgn="ctr">
                        <a:buNone/>
                      </a:pPr>
                      <a:r>
                        <a:rPr lang="ja-JP" altLang="en-US" sz="1600" u="none" strike="noStrike">
                          <a:effectLst/>
                        </a:rPr>
                        <a:t>時間方向の処理</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u="none" strike="noStrike">
                          <a:effectLst/>
                        </a:rPr>
                        <a:t>平均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361652089"/>
                  </a:ext>
                </a:extLst>
              </a:tr>
              <a:tr h="314771">
                <a:tc>
                  <a:txBody>
                    <a:bodyPr/>
                    <a:lstStyle/>
                    <a:p>
                      <a:pPr algn="ctr" fontAlgn="ctr">
                        <a:buNone/>
                      </a:pPr>
                      <a:r>
                        <a:rPr lang="ja-JP" altLang="en-US" sz="1600" u="none" strike="noStrike">
                          <a:effectLst/>
                        </a:rPr>
                        <a:t>時間方向の処理</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u="none" strike="noStrike" dirty="0">
                          <a:effectLst/>
                        </a:rPr>
                        <a:t>差分</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3666554664"/>
                  </a:ext>
                </a:extLst>
              </a:tr>
            </a:tbl>
          </a:graphicData>
        </a:graphic>
      </p:graphicFrame>
      <p:sp>
        <p:nvSpPr>
          <p:cNvPr id="7" name="矢印: 折線 6">
            <a:extLst>
              <a:ext uri="{FF2B5EF4-FFF2-40B4-BE49-F238E27FC236}">
                <a16:creationId xmlns:a16="http://schemas.microsoft.com/office/drawing/2014/main" id="{F56CB8E0-7086-0A91-413B-C7A78E51B7CD}"/>
              </a:ext>
            </a:extLst>
          </p:cNvPr>
          <p:cNvSpPr/>
          <p:nvPr/>
        </p:nvSpPr>
        <p:spPr>
          <a:xfrm rot="10800000" flipH="1">
            <a:off x="1716636" y="3196755"/>
            <a:ext cx="842484" cy="873304"/>
          </a:xfrm>
          <a:prstGeom prst="bentArrow">
            <a:avLst>
              <a:gd name="adj1" fmla="val 16463"/>
              <a:gd name="adj2" fmla="val 25000"/>
              <a:gd name="adj3" fmla="val 25000"/>
              <a:gd name="adj4" fmla="val 43750"/>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テキスト ボックス 7">
            <a:extLst>
              <a:ext uri="{FF2B5EF4-FFF2-40B4-BE49-F238E27FC236}">
                <a16:creationId xmlns:a16="http://schemas.microsoft.com/office/drawing/2014/main" id="{EF4B0507-7EDC-D86B-FE40-DA8316CEC8D8}"/>
              </a:ext>
            </a:extLst>
          </p:cNvPr>
          <p:cNvSpPr txBox="1"/>
          <p:nvPr/>
        </p:nvSpPr>
        <p:spPr>
          <a:xfrm>
            <a:off x="2686690" y="3638869"/>
            <a:ext cx="1968361" cy="461665"/>
          </a:xfrm>
          <a:prstGeom prst="rect">
            <a:avLst/>
          </a:prstGeom>
          <a:noFill/>
          <a:ln>
            <a:solidFill>
              <a:schemeClr val="tx1"/>
            </a:solidFill>
          </a:ln>
        </p:spPr>
        <p:txBody>
          <a:bodyPr wrap="square" rtlCol="0">
            <a:spAutoFit/>
          </a:bodyPr>
          <a:lstStyle/>
          <a:p>
            <a:pPr algn="ctr"/>
            <a:r>
              <a:rPr lang="ja-JP" altLang="en-US" sz="2400" b="1" dirty="0">
                <a:solidFill>
                  <a:srgbClr val="FF0000"/>
                </a:solidFill>
              </a:rPr>
              <a:t>特徴量作成</a:t>
            </a:r>
          </a:p>
        </p:txBody>
      </p:sp>
    </p:spTree>
    <p:extLst>
      <p:ext uri="{BB962C8B-B14F-4D97-AF65-F5344CB8AC3E}">
        <p14:creationId xmlns:p14="http://schemas.microsoft.com/office/powerpoint/2010/main" val="2474171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9411C5-CC4E-0C8E-261E-124FD6A1CDA6}"/>
              </a:ext>
            </a:extLst>
          </p:cNvPr>
          <p:cNvSpPr>
            <a:spLocks noGrp="1"/>
          </p:cNvSpPr>
          <p:nvPr>
            <p:ph type="title"/>
          </p:nvPr>
        </p:nvSpPr>
        <p:spPr/>
        <p:txBody>
          <a:bodyPr>
            <a:normAutofit/>
          </a:bodyPr>
          <a:lstStyle/>
          <a:p>
            <a:r>
              <a:rPr kumimoji="1" lang="ja-JP" altLang="en-US" sz="4000" dirty="0"/>
              <a:t>位置推定結果</a:t>
            </a:r>
          </a:p>
        </p:txBody>
      </p:sp>
      <p:pic>
        <p:nvPicPr>
          <p:cNvPr id="8" name="図 7" descr="グラフ, 折れ線グラフ">
            <a:extLst>
              <a:ext uri="{FF2B5EF4-FFF2-40B4-BE49-F238E27FC236}">
                <a16:creationId xmlns:a16="http://schemas.microsoft.com/office/drawing/2014/main" id="{1C7F1B90-41FB-6E7B-4E30-2AD8AAAF6C33}"/>
              </a:ext>
            </a:extLst>
          </p:cNvPr>
          <p:cNvPicPr>
            <a:picLocks noChangeAspect="1"/>
          </p:cNvPicPr>
          <p:nvPr/>
        </p:nvPicPr>
        <p:blipFill>
          <a:blip r:embed="rId3"/>
          <a:srcRect l="3809" t="6156" b="4898"/>
          <a:stretch>
            <a:fillRect/>
          </a:stretch>
        </p:blipFill>
        <p:spPr>
          <a:xfrm>
            <a:off x="640237" y="2223993"/>
            <a:ext cx="5128967" cy="3747725"/>
          </a:xfrm>
          <a:prstGeom prst="rect">
            <a:avLst/>
          </a:prstGeom>
        </p:spPr>
      </p:pic>
      <p:sp>
        <p:nvSpPr>
          <p:cNvPr id="10" name="テキスト ボックス 9">
            <a:extLst>
              <a:ext uri="{FF2B5EF4-FFF2-40B4-BE49-F238E27FC236}">
                <a16:creationId xmlns:a16="http://schemas.microsoft.com/office/drawing/2014/main" id="{8E97B713-D072-8D55-BF21-A012E814FEF7}"/>
              </a:ext>
            </a:extLst>
          </p:cNvPr>
          <p:cNvSpPr txBox="1"/>
          <p:nvPr/>
        </p:nvSpPr>
        <p:spPr>
          <a:xfrm>
            <a:off x="1308295" y="1854661"/>
            <a:ext cx="4135120" cy="369332"/>
          </a:xfrm>
          <a:prstGeom prst="rect">
            <a:avLst/>
          </a:prstGeom>
          <a:noFill/>
        </p:spPr>
        <p:txBody>
          <a:bodyPr wrap="square">
            <a:spAutoFit/>
          </a:bodyPr>
          <a:lstStyle/>
          <a:p>
            <a:pPr marL="0" indent="0" algn="ctr">
              <a:lnSpc>
                <a:spcPct val="100000"/>
              </a:lnSpc>
              <a:buNone/>
            </a:pPr>
            <a:r>
              <a:rPr lang="ja-JP" altLang="en-US" sz="1800" dirty="0"/>
              <a:t>訓練者数別の平均絶対誤差（</a:t>
            </a:r>
            <a:r>
              <a:rPr lang="en-US" altLang="ja-JP" sz="1800" dirty="0"/>
              <a:t>MAE</a:t>
            </a:r>
            <a:r>
              <a:rPr lang="ja-JP" altLang="en-US" sz="1800" dirty="0"/>
              <a:t>）</a:t>
            </a:r>
            <a:endParaRPr kumimoji="1" lang="en-US" altLang="ja-JP" sz="1800" dirty="0"/>
          </a:p>
        </p:txBody>
      </p:sp>
      <p:sp>
        <p:nvSpPr>
          <p:cNvPr id="11" name="テキスト ボックス 10">
            <a:extLst>
              <a:ext uri="{FF2B5EF4-FFF2-40B4-BE49-F238E27FC236}">
                <a16:creationId xmlns:a16="http://schemas.microsoft.com/office/drawing/2014/main" id="{58439BD8-507C-3495-D4B2-37BEEDE6F5F9}"/>
              </a:ext>
            </a:extLst>
          </p:cNvPr>
          <p:cNvSpPr txBox="1"/>
          <p:nvPr/>
        </p:nvSpPr>
        <p:spPr>
          <a:xfrm>
            <a:off x="1767080" y="5883846"/>
            <a:ext cx="2875280" cy="369332"/>
          </a:xfrm>
          <a:prstGeom prst="rect">
            <a:avLst/>
          </a:prstGeom>
          <a:solidFill>
            <a:schemeClr val="bg1"/>
          </a:solidFill>
        </p:spPr>
        <p:txBody>
          <a:bodyPr wrap="square" rtlCol="0">
            <a:spAutoFit/>
          </a:bodyPr>
          <a:lstStyle/>
          <a:p>
            <a:pPr algn="ctr"/>
            <a:r>
              <a:rPr kumimoji="1" lang="ja-JP" altLang="en-US" dirty="0"/>
              <a:t>訓練者人数</a:t>
            </a:r>
          </a:p>
        </p:txBody>
      </p:sp>
      <p:sp>
        <p:nvSpPr>
          <p:cNvPr id="12" name="テキスト ボックス 11">
            <a:extLst>
              <a:ext uri="{FF2B5EF4-FFF2-40B4-BE49-F238E27FC236}">
                <a16:creationId xmlns:a16="http://schemas.microsoft.com/office/drawing/2014/main" id="{93EB1148-FBD7-61A9-94A8-032903484B11}"/>
              </a:ext>
            </a:extLst>
          </p:cNvPr>
          <p:cNvSpPr txBox="1"/>
          <p:nvPr/>
        </p:nvSpPr>
        <p:spPr>
          <a:xfrm rot="16200000">
            <a:off x="-982069" y="3913189"/>
            <a:ext cx="2875280" cy="369332"/>
          </a:xfrm>
          <a:prstGeom prst="rect">
            <a:avLst/>
          </a:prstGeom>
          <a:solidFill>
            <a:schemeClr val="bg1"/>
          </a:solidFill>
        </p:spPr>
        <p:txBody>
          <a:bodyPr wrap="square" rtlCol="0">
            <a:spAutoFit/>
          </a:bodyPr>
          <a:lstStyle/>
          <a:p>
            <a:pPr algn="ctr"/>
            <a:r>
              <a:rPr kumimoji="1" lang="en-US" altLang="ja-JP" dirty="0"/>
              <a:t>MAE</a:t>
            </a:r>
            <a:endParaRPr kumimoji="1" lang="ja-JP" altLang="en-US" dirty="0"/>
          </a:p>
        </p:txBody>
      </p:sp>
      <p:pic>
        <p:nvPicPr>
          <p:cNvPr id="16" name="図 15" descr="グラフ, ヒストグラム&#10;&#10;AI 生成コンテンツは誤りを含む可能性があります。">
            <a:extLst>
              <a:ext uri="{FF2B5EF4-FFF2-40B4-BE49-F238E27FC236}">
                <a16:creationId xmlns:a16="http://schemas.microsoft.com/office/drawing/2014/main" id="{58206716-2C25-79C7-009C-7F9F4C2E15F3}"/>
              </a:ext>
            </a:extLst>
          </p:cNvPr>
          <p:cNvPicPr>
            <a:picLocks noChangeAspect="1"/>
          </p:cNvPicPr>
          <p:nvPr/>
        </p:nvPicPr>
        <p:blipFill>
          <a:blip r:embed="rId4"/>
          <a:srcRect b="7020"/>
          <a:stretch>
            <a:fillRect/>
          </a:stretch>
        </p:blipFill>
        <p:spPr>
          <a:xfrm>
            <a:off x="6422798" y="2223993"/>
            <a:ext cx="5351944" cy="1864204"/>
          </a:xfrm>
          <a:prstGeom prst="rect">
            <a:avLst/>
          </a:prstGeom>
        </p:spPr>
      </p:pic>
      <p:pic>
        <p:nvPicPr>
          <p:cNvPr id="18" name="図 17" descr="グラフ&#10;&#10;AI 生成コンテンツは誤りを含む可能性があります。">
            <a:extLst>
              <a:ext uri="{FF2B5EF4-FFF2-40B4-BE49-F238E27FC236}">
                <a16:creationId xmlns:a16="http://schemas.microsoft.com/office/drawing/2014/main" id="{6AFDED65-891B-16A5-1DE5-9B4888F644CD}"/>
              </a:ext>
            </a:extLst>
          </p:cNvPr>
          <p:cNvPicPr>
            <a:picLocks noChangeAspect="1"/>
          </p:cNvPicPr>
          <p:nvPr/>
        </p:nvPicPr>
        <p:blipFill>
          <a:blip r:embed="rId5"/>
          <a:srcRect b="7288"/>
          <a:stretch>
            <a:fillRect/>
          </a:stretch>
        </p:blipFill>
        <p:spPr>
          <a:xfrm>
            <a:off x="6422799" y="4630634"/>
            <a:ext cx="5351944" cy="1858827"/>
          </a:xfrm>
          <a:prstGeom prst="rect">
            <a:avLst/>
          </a:prstGeom>
        </p:spPr>
      </p:pic>
      <p:sp>
        <p:nvSpPr>
          <p:cNvPr id="19" name="テキスト ボックス 18">
            <a:extLst>
              <a:ext uri="{FF2B5EF4-FFF2-40B4-BE49-F238E27FC236}">
                <a16:creationId xmlns:a16="http://schemas.microsoft.com/office/drawing/2014/main" id="{4FAC5D7C-0BAD-5BC5-B7D0-E25B63374509}"/>
              </a:ext>
            </a:extLst>
          </p:cNvPr>
          <p:cNvSpPr txBox="1"/>
          <p:nvPr/>
        </p:nvSpPr>
        <p:spPr>
          <a:xfrm>
            <a:off x="6325385" y="1863793"/>
            <a:ext cx="2620652" cy="369332"/>
          </a:xfrm>
          <a:prstGeom prst="rect">
            <a:avLst/>
          </a:prstGeom>
          <a:noFill/>
        </p:spPr>
        <p:txBody>
          <a:bodyPr wrap="square" rtlCol="0">
            <a:spAutoFit/>
          </a:bodyPr>
          <a:lstStyle/>
          <a:p>
            <a:r>
              <a:rPr kumimoji="1" lang="ja-JP" altLang="en-US" dirty="0"/>
              <a:t>平滑化前クラス推移</a:t>
            </a:r>
          </a:p>
        </p:txBody>
      </p:sp>
      <p:sp>
        <p:nvSpPr>
          <p:cNvPr id="20" name="テキスト ボックス 19">
            <a:extLst>
              <a:ext uri="{FF2B5EF4-FFF2-40B4-BE49-F238E27FC236}">
                <a16:creationId xmlns:a16="http://schemas.microsoft.com/office/drawing/2014/main" id="{63B0248A-E3E2-3E9A-E850-F9BBE55AAAE9}"/>
              </a:ext>
            </a:extLst>
          </p:cNvPr>
          <p:cNvSpPr txBox="1"/>
          <p:nvPr/>
        </p:nvSpPr>
        <p:spPr>
          <a:xfrm>
            <a:off x="6325385" y="4252170"/>
            <a:ext cx="2620652" cy="369332"/>
          </a:xfrm>
          <a:prstGeom prst="rect">
            <a:avLst/>
          </a:prstGeom>
          <a:noFill/>
        </p:spPr>
        <p:txBody>
          <a:bodyPr wrap="square" rtlCol="0">
            <a:spAutoFit/>
          </a:bodyPr>
          <a:lstStyle/>
          <a:p>
            <a:r>
              <a:rPr kumimoji="1" lang="ja-JP" altLang="en-US" dirty="0"/>
              <a:t>平滑化後クラス推移</a:t>
            </a:r>
          </a:p>
        </p:txBody>
      </p:sp>
    </p:spTree>
    <p:extLst>
      <p:ext uri="{BB962C8B-B14F-4D97-AF65-F5344CB8AC3E}">
        <p14:creationId xmlns:p14="http://schemas.microsoft.com/office/powerpoint/2010/main" val="337116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B8FA79-F3D9-FC5B-F5DC-8B8F74F813BE}"/>
              </a:ext>
            </a:extLst>
          </p:cNvPr>
          <p:cNvSpPr>
            <a:spLocks noGrp="1"/>
          </p:cNvSpPr>
          <p:nvPr>
            <p:ph type="title"/>
          </p:nvPr>
        </p:nvSpPr>
        <p:spPr/>
        <p:txBody>
          <a:bodyPr/>
          <a:lstStyle/>
          <a:p>
            <a:r>
              <a:rPr kumimoji="1" lang="ja-JP" altLang="en-US" dirty="0"/>
              <a:t>提案手法</a:t>
            </a:r>
          </a:p>
        </p:txBody>
      </p:sp>
      <p:sp>
        <p:nvSpPr>
          <p:cNvPr id="3" name="コンテンツ プレースホルダー 2">
            <a:extLst>
              <a:ext uri="{FF2B5EF4-FFF2-40B4-BE49-F238E27FC236}">
                <a16:creationId xmlns:a16="http://schemas.microsoft.com/office/drawing/2014/main" id="{C87E238F-C3CA-AD33-9F14-15B44EAA0FD6}"/>
              </a:ext>
            </a:extLst>
          </p:cNvPr>
          <p:cNvSpPr>
            <a:spLocks noGrp="1"/>
          </p:cNvSpPr>
          <p:nvPr>
            <p:ph idx="1"/>
          </p:nvPr>
        </p:nvSpPr>
        <p:spPr>
          <a:xfrm>
            <a:off x="838200" y="1825624"/>
            <a:ext cx="10515600" cy="4721713"/>
          </a:xfrm>
        </p:spPr>
        <p:txBody>
          <a:bodyPr>
            <a:normAutofit/>
          </a:bodyPr>
          <a:lstStyle/>
          <a:p>
            <a:pPr>
              <a:lnSpc>
                <a:spcPct val="150000"/>
              </a:lnSpc>
              <a:buFont typeface="Wingdings" panose="05000000000000000000" pitchFamily="2" charset="2"/>
              <a:buChar char="ü"/>
            </a:pPr>
            <a:r>
              <a:rPr lang="ja-JP" altLang="en-US" sz="2400" b="1" dirty="0"/>
              <a:t>コンテキスト判定</a:t>
            </a:r>
          </a:p>
          <a:p>
            <a:pPr marL="457200" lvl="1" indent="0">
              <a:lnSpc>
                <a:spcPct val="100000"/>
              </a:lnSpc>
              <a:buNone/>
            </a:pPr>
            <a:r>
              <a:rPr lang="ja-JP" altLang="en-US" sz="1800" dirty="0"/>
              <a:t>エッジ</a:t>
            </a:r>
            <a:r>
              <a:rPr lang="en-US" altLang="ja-JP" sz="1800" dirty="0"/>
              <a:t>AI</a:t>
            </a:r>
            <a:r>
              <a:rPr lang="ja-JP" altLang="en-US" sz="1800" dirty="0"/>
              <a:t>での行為推定</a:t>
            </a:r>
            <a:endParaRPr lang="en-US" altLang="ja-JP" sz="1800" dirty="0"/>
          </a:p>
          <a:p>
            <a:pPr marL="457200" lvl="1" indent="0">
              <a:lnSpc>
                <a:spcPct val="100000"/>
              </a:lnSpc>
              <a:buNone/>
            </a:pPr>
            <a:r>
              <a:rPr lang="ja-JP" altLang="en-US" sz="1800" dirty="0"/>
              <a:t>　　　　</a:t>
            </a:r>
            <a:r>
              <a:rPr lang="en-US" altLang="ja-JP" sz="1800" dirty="0"/>
              <a:t>×</a:t>
            </a:r>
          </a:p>
          <a:p>
            <a:pPr marL="457200" lvl="1" indent="0">
              <a:lnSpc>
                <a:spcPct val="100000"/>
              </a:lnSpc>
              <a:buNone/>
            </a:pPr>
            <a:r>
              <a:rPr lang="ja-JP" altLang="en-US" sz="1800" dirty="0"/>
              <a:t>サーバ側での位置推定</a:t>
            </a:r>
            <a:endParaRPr lang="en-US" altLang="ja-JP" sz="1800" dirty="0"/>
          </a:p>
          <a:p>
            <a:pPr marL="457200" lvl="1" indent="0">
              <a:lnSpc>
                <a:spcPct val="100000"/>
              </a:lnSpc>
              <a:buNone/>
            </a:pPr>
            <a:endParaRPr lang="en-US" altLang="ja-JP" sz="1800" dirty="0"/>
          </a:p>
          <a:p>
            <a:pPr marL="0" indent="0">
              <a:lnSpc>
                <a:spcPct val="100000"/>
              </a:lnSpc>
              <a:buNone/>
            </a:pPr>
            <a:r>
              <a:rPr lang="ja-JP" altLang="en-US" sz="2200" dirty="0"/>
              <a:t>時刻合わせで同期</a:t>
            </a:r>
            <a:endParaRPr lang="en-US" altLang="ja-JP" sz="2200" dirty="0"/>
          </a:p>
          <a:p>
            <a:pPr marL="457200" lvl="1" indent="0">
              <a:lnSpc>
                <a:spcPct val="100000"/>
              </a:lnSpc>
              <a:buNone/>
            </a:pPr>
            <a:endParaRPr lang="ja-JP" altLang="en-US" sz="2000" dirty="0"/>
          </a:p>
        </p:txBody>
      </p:sp>
      <p:pic>
        <p:nvPicPr>
          <p:cNvPr id="6" name="図 5">
            <a:extLst>
              <a:ext uri="{FF2B5EF4-FFF2-40B4-BE49-F238E27FC236}">
                <a16:creationId xmlns:a16="http://schemas.microsoft.com/office/drawing/2014/main" id="{2B7BCAAE-AF4B-3159-DDBD-83113BEE3EB1}"/>
              </a:ext>
            </a:extLst>
          </p:cNvPr>
          <p:cNvPicPr>
            <a:picLocks noChangeAspect="1"/>
          </p:cNvPicPr>
          <p:nvPr/>
        </p:nvPicPr>
        <p:blipFill>
          <a:blip r:embed="rId2"/>
          <a:srcRect t="32964" b="21864"/>
          <a:stretch>
            <a:fillRect/>
          </a:stretch>
        </p:blipFill>
        <p:spPr>
          <a:xfrm>
            <a:off x="3905405" y="2934269"/>
            <a:ext cx="8286595" cy="2105563"/>
          </a:xfrm>
          <a:prstGeom prst="rect">
            <a:avLst/>
          </a:prstGeom>
        </p:spPr>
      </p:pic>
    </p:spTree>
    <p:extLst>
      <p:ext uri="{BB962C8B-B14F-4D97-AF65-F5344CB8AC3E}">
        <p14:creationId xmlns:p14="http://schemas.microsoft.com/office/powerpoint/2010/main" val="340543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B9046B-6E13-DE19-783D-E4366B8EF586}"/>
              </a:ext>
            </a:extLst>
          </p:cNvPr>
          <p:cNvSpPr>
            <a:spLocks noGrp="1"/>
          </p:cNvSpPr>
          <p:nvPr>
            <p:ph type="title"/>
          </p:nvPr>
        </p:nvSpPr>
        <p:spPr/>
        <p:txBody>
          <a:bodyPr/>
          <a:lstStyle/>
          <a:p>
            <a:r>
              <a:rPr lang="ja-JP" altLang="en-US" dirty="0"/>
              <a:t>提案手法（行為推定）</a:t>
            </a:r>
            <a:endParaRPr kumimoji="1" lang="ja-JP" altLang="en-US" dirty="0"/>
          </a:p>
        </p:txBody>
      </p:sp>
      <p:sp>
        <p:nvSpPr>
          <p:cNvPr id="3" name="コンテンツ プレースホルダー 2">
            <a:extLst>
              <a:ext uri="{FF2B5EF4-FFF2-40B4-BE49-F238E27FC236}">
                <a16:creationId xmlns:a16="http://schemas.microsoft.com/office/drawing/2014/main" id="{641ECE78-9C3E-718A-CE0B-E0EA27567FDA}"/>
              </a:ext>
            </a:extLst>
          </p:cNvPr>
          <p:cNvSpPr>
            <a:spLocks noGrp="1"/>
          </p:cNvSpPr>
          <p:nvPr>
            <p:ph idx="1"/>
          </p:nvPr>
        </p:nvSpPr>
        <p:spPr>
          <a:xfrm>
            <a:off x="838200" y="1825624"/>
            <a:ext cx="10515600" cy="4920615"/>
          </a:xfrm>
        </p:spPr>
        <p:txBody>
          <a:bodyPr>
            <a:normAutofit lnSpcReduction="10000"/>
          </a:bodyPr>
          <a:lstStyle/>
          <a:p>
            <a:r>
              <a:rPr kumimoji="1" lang="ja-JP" altLang="en-US" dirty="0"/>
              <a:t>クラスタリング</a:t>
            </a:r>
            <a:endParaRPr kumimoji="1" lang="en-US" altLang="ja-JP" dirty="0"/>
          </a:p>
          <a:p>
            <a:pPr marL="457200" lvl="1" indent="0">
              <a:lnSpc>
                <a:spcPct val="100000"/>
              </a:lnSpc>
              <a:buNone/>
            </a:pPr>
            <a:r>
              <a:rPr lang="en-US" altLang="ja-JP" sz="2000" b="1" dirty="0"/>
              <a:t>TICC</a:t>
            </a:r>
            <a:r>
              <a:rPr lang="ja-JP" altLang="en-US" sz="2000" b="1" dirty="0"/>
              <a:t>（</a:t>
            </a:r>
            <a:r>
              <a:rPr lang="en-US" altLang="ja-JP" sz="2000" b="1" dirty="0"/>
              <a:t>Toeplitz Inverse Covariance-based Clustering</a:t>
            </a:r>
            <a:r>
              <a:rPr lang="ja-JP" altLang="en-US" sz="2000" b="1" dirty="0"/>
              <a:t>）</a:t>
            </a:r>
          </a:p>
          <a:p>
            <a:pPr lvl="2">
              <a:lnSpc>
                <a:spcPct val="100000"/>
              </a:lnSpc>
            </a:pPr>
            <a:r>
              <a:rPr lang="ja-JP" altLang="en-US" sz="1800" dirty="0"/>
              <a:t>時系列をセグメント分割し、部分系列ごとにクラスタリング</a:t>
            </a:r>
          </a:p>
          <a:p>
            <a:pPr lvl="2">
              <a:lnSpc>
                <a:spcPct val="100000"/>
              </a:lnSpc>
            </a:pPr>
            <a:r>
              <a:rPr lang="ja-JP" altLang="en-US" sz="1800" dirty="0"/>
              <a:t>ラベルなしデータから行動のまとまりを獲得可能</a:t>
            </a:r>
            <a:endParaRPr lang="en-US" altLang="ja-JP" sz="1800" dirty="0"/>
          </a:p>
          <a:p>
            <a:pPr lvl="2">
              <a:lnSpc>
                <a:spcPct val="100000"/>
              </a:lnSpc>
            </a:pPr>
            <a:r>
              <a:rPr lang="ja-JP" altLang="en-US" sz="1800" dirty="0"/>
              <a:t>多次元時系列に適用可能</a:t>
            </a:r>
          </a:p>
          <a:p>
            <a:pPr>
              <a:lnSpc>
                <a:spcPct val="150000"/>
              </a:lnSpc>
            </a:pPr>
            <a:r>
              <a:rPr kumimoji="1" lang="ja-JP" altLang="en-US" dirty="0"/>
              <a:t>クラス割り当てモデル</a:t>
            </a:r>
            <a:endParaRPr kumimoji="1" lang="en-US" altLang="ja-JP" dirty="0"/>
          </a:p>
          <a:p>
            <a:pPr marL="457200" lvl="1" indent="0">
              <a:buNone/>
            </a:pPr>
            <a:r>
              <a:rPr lang="ja-JP" altLang="en-US" sz="2000" dirty="0"/>
              <a:t>ランダムフォレスト</a:t>
            </a:r>
            <a:endParaRPr lang="en-US" altLang="ja-JP" sz="2000" dirty="0"/>
          </a:p>
          <a:p>
            <a:pPr marL="457200" lvl="1" indent="0">
              <a:buNone/>
            </a:pPr>
            <a:endParaRPr lang="en-US" altLang="ja-JP" dirty="0"/>
          </a:p>
          <a:p>
            <a:pPr>
              <a:lnSpc>
                <a:spcPct val="150000"/>
              </a:lnSpc>
            </a:pPr>
            <a:r>
              <a:rPr lang="ja-JP" altLang="en-US" dirty="0"/>
              <a:t>クラス推定モデル</a:t>
            </a:r>
            <a:endParaRPr lang="en-US" altLang="ja-JP" dirty="0"/>
          </a:p>
          <a:p>
            <a:pPr marL="457200" lvl="1" indent="0">
              <a:buNone/>
            </a:pPr>
            <a:r>
              <a:rPr lang="ja-JP" altLang="en-US" sz="2000" dirty="0"/>
              <a:t>ランダムフォレスト</a:t>
            </a:r>
            <a:endParaRPr lang="en-US" altLang="ja-JP" sz="2000" dirty="0"/>
          </a:p>
          <a:p>
            <a:pPr marL="457200" lvl="1" indent="0">
              <a:buNone/>
            </a:pPr>
            <a:r>
              <a:rPr lang="ja-JP" altLang="en-US" sz="2000" b="1" dirty="0">
                <a:solidFill>
                  <a:srgbClr val="FF0000"/>
                </a:solidFill>
              </a:rPr>
              <a:t>ハードウェア制約あり</a:t>
            </a:r>
            <a:endParaRPr kumimoji="1" lang="en-US" altLang="ja-JP" sz="2800" dirty="0"/>
          </a:p>
          <a:p>
            <a:pPr marL="914400" lvl="2" indent="0">
              <a:buNone/>
            </a:pPr>
            <a:r>
              <a:rPr kumimoji="1" lang="ja-JP" altLang="en-US" sz="1800" dirty="0"/>
              <a:t>エッジ</a:t>
            </a:r>
            <a:r>
              <a:rPr kumimoji="1" lang="en-US" altLang="ja-JP" sz="1800" dirty="0"/>
              <a:t>AI</a:t>
            </a:r>
            <a:r>
              <a:rPr kumimoji="1" lang="ja-JP" altLang="en-US" sz="1800" dirty="0"/>
              <a:t>：決定木数本しか搭載できない</a:t>
            </a:r>
          </a:p>
        </p:txBody>
      </p:sp>
      <p:pic>
        <p:nvPicPr>
          <p:cNvPr id="4" name="図 3">
            <a:extLst>
              <a:ext uri="{FF2B5EF4-FFF2-40B4-BE49-F238E27FC236}">
                <a16:creationId xmlns:a16="http://schemas.microsoft.com/office/drawing/2014/main" id="{C1BFDF89-254F-B67F-C1C3-A2E0BF498C46}"/>
              </a:ext>
            </a:extLst>
          </p:cNvPr>
          <p:cNvPicPr>
            <a:picLocks noChangeAspect="1"/>
          </p:cNvPicPr>
          <p:nvPr/>
        </p:nvPicPr>
        <p:blipFill>
          <a:blip r:embed="rId2"/>
          <a:stretch>
            <a:fillRect/>
          </a:stretch>
        </p:blipFill>
        <p:spPr>
          <a:xfrm>
            <a:off x="8391034" y="2222712"/>
            <a:ext cx="3416472" cy="1286298"/>
          </a:xfrm>
          <a:prstGeom prst="rect">
            <a:avLst/>
          </a:prstGeom>
        </p:spPr>
      </p:pic>
      <p:sp>
        <p:nvSpPr>
          <p:cNvPr id="5" name="矢印: 右 4">
            <a:extLst>
              <a:ext uri="{FF2B5EF4-FFF2-40B4-BE49-F238E27FC236}">
                <a16:creationId xmlns:a16="http://schemas.microsoft.com/office/drawing/2014/main" id="{3372B2B6-3CB7-87D0-8E14-2339111C7BE1}"/>
              </a:ext>
            </a:extLst>
          </p:cNvPr>
          <p:cNvSpPr/>
          <p:nvPr/>
        </p:nvSpPr>
        <p:spPr>
          <a:xfrm>
            <a:off x="4775200" y="4101265"/>
            <a:ext cx="1842454" cy="247215"/>
          </a:xfrm>
          <a:prstGeom prst="rightArrow">
            <a:avLst>
              <a:gd name="adj1" fmla="val 50000"/>
              <a:gd name="adj2" fmla="val 119866"/>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8B552E7-38F4-10A0-96E8-13113BA6864F}"/>
              </a:ext>
            </a:extLst>
          </p:cNvPr>
          <p:cNvSpPr txBox="1"/>
          <p:nvPr/>
        </p:nvSpPr>
        <p:spPr>
          <a:xfrm>
            <a:off x="6831474" y="4041034"/>
            <a:ext cx="3119120" cy="461665"/>
          </a:xfrm>
          <a:prstGeom prst="rect">
            <a:avLst/>
          </a:prstGeom>
          <a:noFill/>
        </p:spPr>
        <p:txBody>
          <a:bodyPr wrap="square" rtlCol="0">
            <a:spAutoFit/>
          </a:bodyPr>
          <a:lstStyle/>
          <a:p>
            <a:r>
              <a:rPr kumimoji="1" lang="ja-JP" altLang="en-US" sz="2400" dirty="0"/>
              <a:t>疑似ラベル作成</a:t>
            </a:r>
          </a:p>
        </p:txBody>
      </p:sp>
    </p:spTree>
    <p:extLst>
      <p:ext uri="{BB962C8B-B14F-4D97-AF65-F5344CB8AC3E}">
        <p14:creationId xmlns:p14="http://schemas.microsoft.com/office/powerpoint/2010/main" val="4057736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E521DF-F502-87AA-DB7D-E0AC8039752A}"/>
              </a:ext>
            </a:extLst>
          </p:cNvPr>
          <p:cNvSpPr>
            <a:spLocks noGrp="1"/>
          </p:cNvSpPr>
          <p:nvPr>
            <p:ph type="title"/>
          </p:nvPr>
        </p:nvSpPr>
        <p:spPr/>
        <p:txBody>
          <a:bodyPr>
            <a:normAutofit/>
          </a:bodyPr>
          <a:lstStyle/>
          <a:p>
            <a:r>
              <a:rPr kumimoji="1" lang="ja-JP" altLang="en-US" sz="4000" dirty="0"/>
              <a:t>補足（クラスタリングと割り当て）</a:t>
            </a:r>
          </a:p>
        </p:txBody>
      </p:sp>
      <p:sp>
        <p:nvSpPr>
          <p:cNvPr id="3" name="コンテンツ プレースホルダー 2">
            <a:extLst>
              <a:ext uri="{FF2B5EF4-FFF2-40B4-BE49-F238E27FC236}">
                <a16:creationId xmlns:a16="http://schemas.microsoft.com/office/drawing/2014/main" id="{23C7DE41-8306-9695-2CB0-63AA33DCAC00}"/>
              </a:ext>
            </a:extLst>
          </p:cNvPr>
          <p:cNvSpPr>
            <a:spLocks noGrp="1"/>
          </p:cNvSpPr>
          <p:nvPr>
            <p:ph idx="1"/>
          </p:nvPr>
        </p:nvSpPr>
        <p:spPr>
          <a:xfrm>
            <a:off x="838200" y="1825625"/>
            <a:ext cx="5780963" cy="4351338"/>
          </a:xfrm>
        </p:spPr>
        <p:txBody>
          <a:bodyPr>
            <a:normAutofit/>
          </a:bodyPr>
          <a:lstStyle/>
          <a:p>
            <a:pPr marL="0" indent="0">
              <a:lnSpc>
                <a:spcPct val="100000"/>
              </a:lnSpc>
              <a:buNone/>
            </a:pPr>
            <a:r>
              <a:rPr kumimoji="1" lang="ja-JP" altLang="en-US" dirty="0"/>
              <a:t>本手法で</a:t>
            </a:r>
            <a:r>
              <a:rPr lang="ja-JP" altLang="en-US" dirty="0"/>
              <a:t>、</a:t>
            </a:r>
            <a:endParaRPr lang="en-US" altLang="ja-JP" dirty="0"/>
          </a:p>
          <a:p>
            <a:pPr marL="0" indent="0">
              <a:lnSpc>
                <a:spcPct val="100000"/>
              </a:lnSpc>
              <a:buNone/>
            </a:pPr>
            <a:r>
              <a:rPr lang="ja-JP" altLang="en-US" dirty="0"/>
              <a:t>実際に疑似ラベルとしてエッジ</a:t>
            </a:r>
            <a:r>
              <a:rPr lang="en-US" altLang="ja-JP" dirty="0"/>
              <a:t>AI</a:t>
            </a:r>
            <a:r>
              <a:rPr lang="ja-JP" altLang="en-US" dirty="0"/>
              <a:t>の訓練データになるのは割り当てモデルの出力</a:t>
            </a:r>
            <a:endParaRPr lang="en-US" altLang="ja-JP" dirty="0"/>
          </a:p>
          <a:p>
            <a:pPr marL="0" indent="0">
              <a:lnSpc>
                <a:spcPct val="100000"/>
              </a:lnSpc>
              <a:buNone/>
            </a:pPr>
            <a:endParaRPr kumimoji="1" lang="en-US" altLang="ja-JP" dirty="0"/>
          </a:p>
          <a:p>
            <a:pPr marL="0" indent="0">
              <a:lnSpc>
                <a:spcPct val="150000"/>
              </a:lnSpc>
              <a:buNone/>
            </a:pPr>
            <a:r>
              <a:rPr lang="ja-JP" altLang="en-US" dirty="0"/>
              <a:t>モデル構築層において</a:t>
            </a:r>
            <a:endParaRPr lang="en-US" altLang="ja-JP" dirty="0"/>
          </a:p>
          <a:p>
            <a:pPr marL="0" indent="0">
              <a:lnSpc>
                <a:spcPct val="150000"/>
              </a:lnSpc>
              <a:buNone/>
            </a:pPr>
            <a:r>
              <a:rPr lang="ja-JP" altLang="en-US" b="1" dirty="0">
                <a:solidFill>
                  <a:srgbClr val="FF0000"/>
                </a:solidFill>
              </a:rPr>
              <a:t>割り当て精度のほうが優先</a:t>
            </a:r>
            <a:endParaRPr kumimoji="1" lang="ja-JP" altLang="en-US" b="1" dirty="0">
              <a:solidFill>
                <a:srgbClr val="FF0000"/>
              </a:solidFill>
            </a:endParaRPr>
          </a:p>
        </p:txBody>
      </p:sp>
      <p:pic>
        <p:nvPicPr>
          <p:cNvPr id="4" name="図 3">
            <a:extLst>
              <a:ext uri="{FF2B5EF4-FFF2-40B4-BE49-F238E27FC236}">
                <a16:creationId xmlns:a16="http://schemas.microsoft.com/office/drawing/2014/main" id="{A7D511E7-C8FF-5156-6064-9A01BB8D6761}"/>
              </a:ext>
            </a:extLst>
          </p:cNvPr>
          <p:cNvPicPr>
            <a:picLocks noChangeAspect="1"/>
          </p:cNvPicPr>
          <p:nvPr/>
        </p:nvPicPr>
        <p:blipFill>
          <a:blip r:embed="rId3"/>
          <a:stretch>
            <a:fillRect/>
          </a:stretch>
        </p:blipFill>
        <p:spPr>
          <a:xfrm>
            <a:off x="6720122" y="2352679"/>
            <a:ext cx="5471878" cy="3079129"/>
          </a:xfrm>
          <a:prstGeom prst="rect">
            <a:avLst/>
          </a:prstGeom>
        </p:spPr>
      </p:pic>
    </p:spTree>
    <p:extLst>
      <p:ext uri="{BB962C8B-B14F-4D97-AF65-F5344CB8AC3E}">
        <p14:creationId xmlns:p14="http://schemas.microsoft.com/office/powerpoint/2010/main" val="1473146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E026FE-54B9-4187-7216-E1BB8F7BAE17}"/>
              </a:ext>
            </a:extLst>
          </p:cNvPr>
          <p:cNvSpPr>
            <a:spLocks noGrp="1"/>
          </p:cNvSpPr>
          <p:nvPr>
            <p:ph type="title"/>
          </p:nvPr>
        </p:nvSpPr>
        <p:spPr/>
        <p:txBody>
          <a:bodyPr/>
          <a:lstStyle/>
          <a:p>
            <a:r>
              <a:rPr kumimoji="1" lang="ja-JP" altLang="en-US" dirty="0"/>
              <a:t>補足（推定環境の分離）</a:t>
            </a:r>
          </a:p>
        </p:txBody>
      </p:sp>
      <p:sp>
        <p:nvSpPr>
          <p:cNvPr id="3" name="コンテンツ プレースホルダー 2">
            <a:extLst>
              <a:ext uri="{FF2B5EF4-FFF2-40B4-BE49-F238E27FC236}">
                <a16:creationId xmlns:a16="http://schemas.microsoft.com/office/drawing/2014/main" id="{9A441BA8-A53E-958E-406F-1BA845B6C220}"/>
              </a:ext>
            </a:extLst>
          </p:cNvPr>
          <p:cNvSpPr>
            <a:spLocks noGrp="1"/>
          </p:cNvSpPr>
          <p:nvPr>
            <p:ph idx="1"/>
          </p:nvPr>
        </p:nvSpPr>
        <p:spPr>
          <a:xfrm>
            <a:off x="838200" y="1825625"/>
            <a:ext cx="6872785" cy="4351338"/>
          </a:xfrm>
        </p:spPr>
        <p:txBody>
          <a:bodyPr>
            <a:normAutofit/>
          </a:bodyPr>
          <a:lstStyle/>
          <a:p>
            <a:pPr>
              <a:lnSpc>
                <a:spcPct val="150000"/>
              </a:lnSpc>
            </a:pPr>
            <a:r>
              <a:rPr lang="ja-JP" altLang="en-US" dirty="0"/>
              <a:t>行動は一人で完結（絶対的推定）</a:t>
            </a:r>
            <a:endParaRPr lang="en-US" altLang="ja-JP" dirty="0"/>
          </a:p>
          <a:p>
            <a:pPr marL="0" indent="0">
              <a:lnSpc>
                <a:spcPct val="150000"/>
              </a:lnSpc>
              <a:buNone/>
            </a:pPr>
            <a:r>
              <a:rPr lang="ja-JP" altLang="en-US" dirty="0"/>
              <a:t>エッジの使用が最適</a:t>
            </a:r>
            <a:endParaRPr lang="en-US" altLang="ja-JP" dirty="0"/>
          </a:p>
          <a:p>
            <a:pPr>
              <a:lnSpc>
                <a:spcPct val="150000"/>
              </a:lnSpc>
            </a:pPr>
            <a:r>
              <a:rPr lang="ja-JP" altLang="en-US" dirty="0"/>
              <a:t>位置は複数人に影響（相対的推定）</a:t>
            </a:r>
            <a:endParaRPr lang="en-US" altLang="ja-JP" dirty="0"/>
          </a:p>
          <a:p>
            <a:pPr marL="0" indent="0">
              <a:lnSpc>
                <a:spcPct val="150000"/>
              </a:lnSpc>
              <a:buNone/>
            </a:pPr>
            <a:r>
              <a:rPr lang="ja-JP" altLang="en-US" dirty="0"/>
              <a:t>エッジでは役割不足</a:t>
            </a:r>
            <a:endParaRPr lang="en-US" altLang="ja-JP" dirty="0"/>
          </a:p>
          <a:p>
            <a:pPr marL="0" indent="0">
              <a:lnSpc>
                <a:spcPct val="150000"/>
              </a:lnSpc>
              <a:buNone/>
            </a:pPr>
            <a:endParaRPr kumimoji="1" lang="ja-JP" altLang="en-US" dirty="0"/>
          </a:p>
        </p:txBody>
      </p:sp>
      <p:pic>
        <p:nvPicPr>
          <p:cNvPr id="4" name="図 3">
            <a:extLst>
              <a:ext uri="{FF2B5EF4-FFF2-40B4-BE49-F238E27FC236}">
                <a16:creationId xmlns:a16="http://schemas.microsoft.com/office/drawing/2014/main" id="{D6B8B98B-E894-22CA-1E4C-EFFD6D3D8766}"/>
              </a:ext>
            </a:extLst>
          </p:cNvPr>
          <p:cNvPicPr>
            <a:picLocks noChangeAspect="1"/>
          </p:cNvPicPr>
          <p:nvPr/>
        </p:nvPicPr>
        <p:blipFill>
          <a:blip r:embed="rId2"/>
          <a:srcRect l="47211"/>
          <a:stretch>
            <a:fillRect/>
          </a:stretch>
        </p:blipFill>
        <p:spPr>
          <a:xfrm>
            <a:off x="7186037" y="1690688"/>
            <a:ext cx="4563548" cy="4865030"/>
          </a:xfrm>
          <a:prstGeom prst="rect">
            <a:avLst/>
          </a:prstGeom>
        </p:spPr>
      </p:pic>
    </p:spTree>
    <p:extLst>
      <p:ext uri="{BB962C8B-B14F-4D97-AF65-F5344CB8AC3E}">
        <p14:creationId xmlns:p14="http://schemas.microsoft.com/office/powerpoint/2010/main" val="2739914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1C748C-845A-0004-53AE-AF5E32FEAF2E}"/>
              </a:ext>
            </a:extLst>
          </p:cNvPr>
          <p:cNvSpPr>
            <a:spLocks noGrp="1"/>
          </p:cNvSpPr>
          <p:nvPr>
            <p:ph type="title"/>
          </p:nvPr>
        </p:nvSpPr>
        <p:spPr/>
        <p:txBody>
          <a:bodyPr/>
          <a:lstStyle/>
          <a:p>
            <a:r>
              <a:rPr kumimoji="1" lang="ja-JP" altLang="en-US" dirty="0"/>
              <a:t>補足</a:t>
            </a:r>
            <a:r>
              <a:rPr lang="ja-JP" altLang="en-US" dirty="0"/>
              <a:t>（エッジ</a:t>
            </a:r>
            <a:r>
              <a:rPr lang="en-US" altLang="ja-JP" dirty="0"/>
              <a:t>AI</a:t>
            </a:r>
            <a:r>
              <a:rPr lang="ja-JP" altLang="en-US" dirty="0"/>
              <a:t>の使用）</a:t>
            </a:r>
            <a:endParaRPr kumimoji="1" lang="ja-JP" altLang="en-US" dirty="0"/>
          </a:p>
        </p:txBody>
      </p:sp>
      <p:sp>
        <p:nvSpPr>
          <p:cNvPr id="3" name="コンテンツ プレースホルダー 2">
            <a:extLst>
              <a:ext uri="{FF2B5EF4-FFF2-40B4-BE49-F238E27FC236}">
                <a16:creationId xmlns:a16="http://schemas.microsoft.com/office/drawing/2014/main" id="{FE7B60E2-047A-2C33-F59F-38D9BD306C7B}"/>
              </a:ext>
            </a:extLst>
          </p:cNvPr>
          <p:cNvSpPr>
            <a:spLocks noGrp="1"/>
          </p:cNvSpPr>
          <p:nvPr>
            <p:ph idx="1"/>
          </p:nvPr>
        </p:nvSpPr>
        <p:spPr>
          <a:xfrm>
            <a:off x="838200" y="1825625"/>
            <a:ext cx="10515600" cy="4889074"/>
          </a:xfrm>
        </p:spPr>
        <p:txBody>
          <a:bodyPr>
            <a:normAutofit lnSpcReduction="10000"/>
          </a:bodyPr>
          <a:lstStyle/>
          <a:p>
            <a:pPr marL="0" indent="0">
              <a:lnSpc>
                <a:spcPct val="160000"/>
              </a:lnSpc>
              <a:buNone/>
            </a:pPr>
            <a:r>
              <a:rPr lang="ja-JP" altLang="en-US" dirty="0"/>
              <a:t>エッジ</a:t>
            </a:r>
            <a:r>
              <a:rPr lang="en-US" altLang="ja-JP" dirty="0"/>
              <a:t>AI</a:t>
            </a:r>
            <a:r>
              <a:rPr lang="ja-JP" altLang="en-US" dirty="0"/>
              <a:t>では個人の行動パターンを推定</a:t>
            </a:r>
            <a:endParaRPr lang="en-US" altLang="ja-JP" dirty="0"/>
          </a:p>
          <a:p>
            <a:pPr>
              <a:lnSpc>
                <a:spcPct val="160000"/>
              </a:lnSpc>
              <a:buFont typeface="Wingdings" panose="05000000000000000000" pitchFamily="2" charset="2"/>
              <a:buChar char="ü"/>
            </a:pPr>
            <a:r>
              <a:rPr lang="ja-JP" altLang="en-US" dirty="0"/>
              <a:t>一般的な行動の人を採用（本研究）</a:t>
            </a:r>
            <a:endParaRPr lang="en-US" altLang="ja-JP" dirty="0"/>
          </a:p>
          <a:p>
            <a:pPr marL="457200" lvl="1" indent="0">
              <a:lnSpc>
                <a:spcPct val="160000"/>
              </a:lnSpc>
              <a:buNone/>
            </a:pPr>
            <a:r>
              <a:rPr lang="ja-JP" altLang="en-US" dirty="0"/>
              <a:t>　→ モデル作成が容易</a:t>
            </a:r>
            <a:endParaRPr lang="en-US" altLang="ja-JP" dirty="0"/>
          </a:p>
          <a:p>
            <a:pPr marL="0" indent="0">
              <a:lnSpc>
                <a:spcPct val="160000"/>
              </a:lnSpc>
              <a:buNone/>
            </a:pPr>
            <a:r>
              <a:rPr lang="ja-JP" altLang="en-US" dirty="0"/>
              <a:t>　</a:t>
            </a:r>
            <a:r>
              <a:rPr lang="ja-JP" altLang="en-US" sz="2600" b="1" dirty="0"/>
              <a:t>実環境での導入ハードルを下げる</a:t>
            </a:r>
            <a:endParaRPr lang="en-US" altLang="ja-JP" b="1" dirty="0"/>
          </a:p>
          <a:p>
            <a:pPr>
              <a:lnSpc>
                <a:spcPct val="160000"/>
              </a:lnSpc>
              <a:buFont typeface="Wingdings" panose="05000000000000000000" pitchFamily="2" charset="2"/>
              <a:buChar char="ü"/>
            </a:pPr>
            <a:r>
              <a:rPr lang="ja-JP" altLang="en-US" dirty="0"/>
              <a:t>個人ごとに学習させる（ファインチューニング）</a:t>
            </a:r>
            <a:endParaRPr lang="en-US" altLang="ja-JP" dirty="0"/>
          </a:p>
          <a:p>
            <a:pPr marL="457200" lvl="1" indent="0">
              <a:lnSpc>
                <a:spcPct val="160000"/>
              </a:lnSpc>
              <a:buNone/>
            </a:pPr>
            <a:r>
              <a:rPr lang="ja-JP" altLang="en-US" dirty="0"/>
              <a:t>　</a:t>
            </a:r>
            <a:r>
              <a:rPr lang="ja-JP" altLang="en-US" sz="2200" dirty="0"/>
              <a:t>→ 精度が上がるがコストも上がる</a:t>
            </a:r>
            <a:br>
              <a:rPr lang="en-US" altLang="ja-JP" dirty="0"/>
            </a:br>
            <a:r>
              <a:rPr lang="ja-JP" altLang="en-US" sz="2600" b="1" dirty="0"/>
              <a:t>エッジ</a:t>
            </a:r>
            <a:r>
              <a:rPr lang="en-US" altLang="ja-JP" sz="2600" b="1" dirty="0"/>
              <a:t>AI</a:t>
            </a:r>
            <a:r>
              <a:rPr lang="ja-JP" altLang="en-US" sz="2600" b="1" dirty="0"/>
              <a:t>を用いるメリットにもなる</a:t>
            </a:r>
            <a:endParaRPr lang="en-US" altLang="ja-JP" b="1" dirty="0"/>
          </a:p>
        </p:txBody>
      </p:sp>
    </p:spTree>
    <p:extLst>
      <p:ext uri="{BB962C8B-B14F-4D97-AF65-F5344CB8AC3E}">
        <p14:creationId xmlns:p14="http://schemas.microsoft.com/office/powerpoint/2010/main" val="2446669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786A2-5255-8F4B-0C00-72B43060253D}"/>
              </a:ext>
            </a:extLst>
          </p:cNvPr>
          <p:cNvSpPr>
            <a:spLocks noGrp="1"/>
          </p:cNvSpPr>
          <p:nvPr>
            <p:ph type="title"/>
          </p:nvPr>
        </p:nvSpPr>
        <p:spPr/>
        <p:txBody>
          <a:bodyPr/>
          <a:lstStyle/>
          <a:p>
            <a:r>
              <a:rPr kumimoji="1" lang="ja-JP" altLang="en-US" dirty="0"/>
              <a:t>補足（実環境での運用に向けて）</a:t>
            </a:r>
          </a:p>
        </p:txBody>
      </p:sp>
      <p:sp>
        <p:nvSpPr>
          <p:cNvPr id="3" name="コンテンツ プレースホルダー 2">
            <a:extLst>
              <a:ext uri="{FF2B5EF4-FFF2-40B4-BE49-F238E27FC236}">
                <a16:creationId xmlns:a16="http://schemas.microsoft.com/office/drawing/2014/main" id="{C9B4513B-D1EB-2074-D3D0-B37A9009573F}"/>
              </a:ext>
            </a:extLst>
          </p:cNvPr>
          <p:cNvSpPr>
            <a:spLocks noGrp="1"/>
          </p:cNvSpPr>
          <p:nvPr>
            <p:ph idx="1"/>
          </p:nvPr>
        </p:nvSpPr>
        <p:spPr>
          <a:xfrm>
            <a:off x="838200" y="1825625"/>
            <a:ext cx="10515600" cy="4766244"/>
          </a:xfrm>
        </p:spPr>
        <p:txBody>
          <a:bodyPr>
            <a:normAutofit/>
          </a:bodyPr>
          <a:lstStyle/>
          <a:p>
            <a:pPr>
              <a:lnSpc>
                <a:spcPct val="150000"/>
              </a:lnSpc>
              <a:buFont typeface="Wingdings" panose="05000000000000000000" pitchFamily="2" charset="2"/>
              <a:buChar char="ü"/>
            </a:pPr>
            <a:r>
              <a:rPr lang="ja-JP" altLang="en-US" sz="3200" dirty="0"/>
              <a:t>別行動を推定する場合</a:t>
            </a:r>
            <a:endParaRPr lang="en-US" altLang="ja-JP" sz="3200" dirty="0"/>
          </a:p>
          <a:p>
            <a:pPr>
              <a:lnSpc>
                <a:spcPct val="150000"/>
              </a:lnSpc>
            </a:pPr>
            <a:r>
              <a:rPr lang="ja-JP" altLang="en-US" sz="3200" dirty="0"/>
              <a:t>提案手法、フレームワークは共通</a:t>
            </a:r>
            <a:endParaRPr lang="en-US" altLang="ja-JP" sz="3200" dirty="0"/>
          </a:p>
          <a:p>
            <a:pPr marL="914400" lvl="1" indent="-457200">
              <a:lnSpc>
                <a:spcPct val="150000"/>
              </a:lnSpc>
              <a:buFont typeface="+mj-lt"/>
              <a:buAutoNum type="arabicPeriod"/>
            </a:pPr>
            <a:r>
              <a:rPr lang="ja-JP" altLang="en-US" sz="2800" dirty="0"/>
              <a:t>センサを増やす</a:t>
            </a:r>
            <a:endParaRPr lang="en-US" altLang="ja-JP" sz="2800" dirty="0"/>
          </a:p>
          <a:p>
            <a:pPr marL="914400" lvl="1" indent="-457200">
              <a:lnSpc>
                <a:spcPct val="150000"/>
              </a:lnSpc>
              <a:buFont typeface="+mj-lt"/>
              <a:buAutoNum type="arabicPeriod"/>
            </a:pPr>
            <a:r>
              <a:rPr lang="ja-JP" altLang="en-US" sz="2800" dirty="0"/>
              <a:t>時間軸方向の特徴量を確認する</a:t>
            </a:r>
            <a:endParaRPr lang="en-US" altLang="ja-JP" sz="2800" dirty="0"/>
          </a:p>
          <a:p>
            <a:pPr marL="914400" lvl="1" indent="-457200">
              <a:lnSpc>
                <a:spcPct val="150000"/>
              </a:lnSpc>
              <a:buFont typeface="+mj-lt"/>
              <a:buAutoNum type="arabicPeriod"/>
            </a:pPr>
            <a:r>
              <a:rPr lang="ja-JP" altLang="en-US" sz="2800" dirty="0"/>
              <a:t>行動の中で、違う特徴量の部分を探す</a:t>
            </a:r>
            <a:endParaRPr lang="en-US" altLang="ja-JP" sz="2800" dirty="0"/>
          </a:p>
          <a:p>
            <a:pPr marL="457200" lvl="1" indent="0">
              <a:lnSpc>
                <a:spcPct val="150000"/>
              </a:lnSpc>
              <a:buNone/>
            </a:pPr>
            <a:r>
              <a:rPr lang="ja-JP" altLang="en-US" sz="2800" b="1" dirty="0"/>
              <a:t>特徴量エンジニアリングは必要</a:t>
            </a:r>
            <a:endParaRPr lang="en-US" altLang="ja-JP" sz="2800" b="1" dirty="0"/>
          </a:p>
        </p:txBody>
      </p:sp>
    </p:spTree>
    <p:extLst>
      <p:ext uri="{BB962C8B-B14F-4D97-AF65-F5344CB8AC3E}">
        <p14:creationId xmlns:p14="http://schemas.microsoft.com/office/powerpoint/2010/main" val="2977491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75F4A-A260-B86E-694B-729FBB67BD7F}"/>
              </a:ext>
            </a:extLst>
          </p:cNvPr>
          <p:cNvSpPr>
            <a:spLocks noGrp="1"/>
          </p:cNvSpPr>
          <p:nvPr>
            <p:ph type="title"/>
          </p:nvPr>
        </p:nvSpPr>
        <p:spPr/>
        <p:txBody>
          <a:bodyPr/>
          <a:lstStyle/>
          <a:p>
            <a:r>
              <a:rPr kumimoji="1" lang="ja-JP" altLang="en-US" dirty="0"/>
              <a:t>今後の展望</a:t>
            </a:r>
          </a:p>
        </p:txBody>
      </p:sp>
      <p:sp>
        <p:nvSpPr>
          <p:cNvPr id="3" name="コンテンツ プレースホルダー 2">
            <a:extLst>
              <a:ext uri="{FF2B5EF4-FFF2-40B4-BE49-F238E27FC236}">
                <a16:creationId xmlns:a16="http://schemas.microsoft.com/office/drawing/2014/main" id="{87E643A6-D4B3-C743-B4E4-B4BF515593A1}"/>
              </a:ext>
            </a:extLst>
          </p:cNvPr>
          <p:cNvSpPr>
            <a:spLocks noGrp="1"/>
          </p:cNvSpPr>
          <p:nvPr>
            <p:ph idx="1"/>
          </p:nvPr>
        </p:nvSpPr>
        <p:spPr>
          <a:xfrm>
            <a:off x="601579" y="1825625"/>
            <a:ext cx="10702089" cy="4605254"/>
          </a:xfrm>
        </p:spPr>
        <p:txBody>
          <a:bodyPr>
            <a:normAutofit/>
          </a:bodyPr>
          <a:lstStyle/>
          <a:p>
            <a:pPr>
              <a:lnSpc>
                <a:spcPct val="150000"/>
              </a:lnSpc>
            </a:pPr>
            <a:r>
              <a:rPr kumimoji="1" lang="ja-JP" altLang="en-US" sz="2000" dirty="0"/>
              <a:t>個人差に強い推定モデルの構築</a:t>
            </a:r>
            <a:endParaRPr kumimoji="1" lang="en-US" altLang="ja-JP" sz="2000" dirty="0"/>
          </a:p>
          <a:p>
            <a:pPr>
              <a:lnSpc>
                <a:spcPct val="150000"/>
              </a:lnSpc>
            </a:pPr>
            <a:r>
              <a:rPr kumimoji="1" lang="ja-JP" altLang="en-US" sz="2000" dirty="0"/>
              <a:t>実データ数・被験者数を増やして汎化性能を検証</a:t>
            </a:r>
            <a:endParaRPr lang="en-US" altLang="ja-JP" sz="2000" dirty="0"/>
          </a:p>
          <a:p>
            <a:pPr>
              <a:lnSpc>
                <a:spcPct val="150000"/>
              </a:lnSpc>
            </a:pPr>
            <a:r>
              <a:rPr lang="ja-JP" altLang="en-US" sz="2000" dirty="0"/>
              <a:t>今回は一人モデル（クラスタリング実装の影響）</a:t>
            </a:r>
            <a:endParaRPr lang="en-US" altLang="ja-JP" sz="2000" dirty="0"/>
          </a:p>
          <a:p>
            <a:pPr>
              <a:lnSpc>
                <a:spcPct val="150000"/>
              </a:lnSpc>
            </a:pPr>
            <a:r>
              <a:rPr lang="ja-JP" altLang="en-US" sz="2000" dirty="0"/>
              <a:t>今後、複数人による学習も今後の展望</a:t>
            </a:r>
            <a:endParaRPr kumimoji="1" lang="en-US" altLang="ja-JP" sz="2000" dirty="0"/>
          </a:p>
          <a:p>
            <a:pPr marL="0" indent="0">
              <a:lnSpc>
                <a:spcPct val="150000"/>
              </a:lnSpc>
              <a:buNone/>
            </a:pPr>
            <a:endParaRPr kumimoji="1" lang="ja-JP" altLang="en-US" sz="2000" dirty="0"/>
          </a:p>
        </p:txBody>
      </p:sp>
    </p:spTree>
    <p:extLst>
      <p:ext uri="{BB962C8B-B14F-4D97-AF65-F5344CB8AC3E}">
        <p14:creationId xmlns:p14="http://schemas.microsoft.com/office/powerpoint/2010/main" val="919858251"/>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ーマ1" id="{32D31B46-EEC2-4F4F-A695-8F10CA0C0C52}" vid="{EA46E023-74C4-47FA-9D0B-BB70A3C6B5C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449438d-3606-490b-844f-c4e15e535fca}" enabled="0" method="" siteId="{a449438d-3606-490b-844f-c4e15e535fca}" removed="1"/>
</clbl:labelList>
</file>

<file path=docProps/app.xml><?xml version="1.0" encoding="utf-8"?>
<Properties xmlns="http://schemas.openxmlformats.org/officeDocument/2006/extended-properties" xmlns:vt="http://schemas.openxmlformats.org/officeDocument/2006/docPropsVTypes">
  <Template/>
  <TotalTime>2479</TotalTime>
  <Words>1935</Words>
  <Application>Microsoft Office PowerPoint</Application>
  <PresentationFormat>ワイド画面</PresentationFormat>
  <Paragraphs>361</Paragraphs>
  <Slides>22</Slides>
  <Notes>15</Notes>
  <HiddenSlides>9</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22</vt:i4>
      </vt:variant>
    </vt:vector>
  </HeadingPairs>
  <TitlesOfParts>
    <vt:vector size="27" baseType="lpstr">
      <vt:lpstr>游ゴシック</vt:lpstr>
      <vt:lpstr>游ゴシック Light</vt:lpstr>
      <vt:lpstr>Arial</vt:lpstr>
      <vt:lpstr>Wingdings</vt:lpstr>
      <vt:lpstr>テーマ1</vt:lpstr>
      <vt:lpstr>独立に推定された行為と位置の統合による リアルタイムコンテキスト判定</vt:lpstr>
      <vt:lpstr>背景</vt:lpstr>
      <vt:lpstr>提案手法</vt:lpstr>
      <vt:lpstr>提案手法（行為推定）</vt:lpstr>
      <vt:lpstr>提案手法（位置推定）</vt:lpstr>
      <vt:lpstr>実験</vt:lpstr>
      <vt:lpstr>クラスタリング結果</vt:lpstr>
      <vt:lpstr>クラスタリング結果の考察</vt:lpstr>
      <vt:lpstr>行為割り当ての結果と考察</vt:lpstr>
      <vt:lpstr>エッジAI行為推定の結果</vt:lpstr>
      <vt:lpstr>行為推定結果</vt:lpstr>
      <vt:lpstr>コンテキスト推定結果</vt:lpstr>
      <vt:lpstr>結論</vt:lpstr>
      <vt:lpstr>提案手法（モデル構築層）</vt:lpstr>
      <vt:lpstr>位置推定結果</vt:lpstr>
      <vt:lpstr>提案手法</vt:lpstr>
      <vt:lpstr>提案手法（行為推定）</vt:lpstr>
      <vt:lpstr>補足（クラスタリングと割り当て）</vt:lpstr>
      <vt:lpstr>補足（推定環境の分離）</vt:lpstr>
      <vt:lpstr>補足（エッジAIの使用）</vt:lpstr>
      <vt:lpstr>補足（実環境での運用に向けて）</vt:lpstr>
      <vt:lpstr>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佐藤 博正(is0671vx)</dc:creator>
  <cp:lastModifiedBy>佐藤 博正(is0671vx)</cp:lastModifiedBy>
  <cp:revision>3</cp:revision>
  <dcterms:created xsi:type="dcterms:W3CDTF">2025-12-01T08:45:56Z</dcterms:created>
  <dcterms:modified xsi:type="dcterms:W3CDTF">2026-02-02T05:11:20Z</dcterms:modified>
</cp:coreProperties>
</file>